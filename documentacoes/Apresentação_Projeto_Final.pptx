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sldIdLst>
    <p:sldId id="256" r:id="rId2"/>
    <p:sldId id="257" r:id="rId3"/>
    <p:sldId id="258" r:id="rId4"/>
    <p:sldId id="259" r:id="rId5"/>
    <p:sldId id="264" r:id="rId6"/>
    <p:sldId id="265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14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353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98D27E5-A753-C962-CD54-9BBA1CFAA0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5756" y="639311"/>
            <a:ext cx="4308672" cy="2037482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pt-BR" sz="4900" dirty="0"/>
              <a:t>Monitoramento da Frota de Ônibus de SP</a:t>
            </a:r>
            <a:endParaRPr lang="pt-PT" sz="49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9B6A44-653B-B8EA-9B32-1BB10FCB1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5756" y="5046281"/>
            <a:ext cx="4308672" cy="1172408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pt-BR" sz="1500" dirty="0"/>
              <a:t>Uma arquitetura Híbrida Batch/Streaming para Análise histórica e Operacional da frota da SPTrans</a:t>
            </a:r>
            <a:endParaRPr lang="pt-PT" sz="15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8DCE07-086F-78D2-B051-F9CF5902F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03" r="10397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262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4FD8E-A1DC-38AF-0995-46BD7FE7C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10671048" cy="552451"/>
          </a:xfrm>
        </p:spPr>
        <p:txBody>
          <a:bodyPr>
            <a:normAutofit/>
          </a:bodyPr>
          <a:lstStyle/>
          <a:p>
            <a:r>
              <a:rPr lang="pt-PT" sz="2800" dirty="0"/>
              <a:t>Nossa Missão: Duas Visões, Uma Plataforma de Conteúdo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C4E4CB-14BB-7A33-633C-C816F8C76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 SPTrans gera milhões de pontos de dados de geolocalização todos os dias.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Esses dados são de natureza transitória (efêmeros) e massivos (crescem rapidamente).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Perguntas de Negócio, sem Resposta Fácil: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Visão Histórica (Batch): "Qual foi o pico de ônibus em operação no período da manhã?" ou “Qual o percentual da frota congestionada nas últimas horas?"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Visão NRT (Near Real-Time): “Quantos ônibus em congestionamento agora?" ou “Quais são as linhas mais lentas?” ou “Quais linhas estão enfrentando congestionamento agora?”</a:t>
            </a:r>
          </a:p>
        </p:txBody>
      </p:sp>
    </p:spTree>
    <p:extLst>
      <p:ext uri="{BB962C8B-B14F-4D97-AF65-F5344CB8AC3E}">
        <p14:creationId xmlns:p14="http://schemas.microsoft.com/office/powerpoint/2010/main" val="5690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A0832-7EBC-810C-ACFC-D0C21B153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9F741-43C3-DA5A-E85A-A208BCCB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Os Objetivos do Projeto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782399-349F-9A8F-57E0-E0767C8B5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1: Visão Estratégica (Batch)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Analisar tendências e performance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Contagem de frota única em operação por hora e análise de velocidade média histórica.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2: Visão Operacional (Streaming)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Fornecer um "</a:t>
            </a:r>
            <a:r>
              <a:rPr lang="pt-PT" dirty="0" err="1"/>
              <a:t>raio-x</a:t>
            </a:r>
            <a:r>
              <a:rPr lang="pt-PT" dirty="0"/>
              <a:t>" da operação da frota com baixa latência (</a:t>
            </a:r>
            <a:r>
              <a:rPr lang="pt-PT" dirty="0" err="1"/>
              <a:t>near</a:t>
            </a:r>
            <a:r>
              <a:rPr lang="pt-PT" dirty="0"/>
              <a:t> real-time).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Velocidade média por linha, contagem de ônibus parados/congestionados.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3: Arquitetura Unificada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Construir uma Arquitetura Medalhão, Híbrida Batch/Streaming que suporte ambas visões.</a:t>
            </a:r>
          </a:p>
        </p:txBody>
      </p:sp>
    </p:spTree>
    <p:extLst>
      <p:ext uri="{BB962C8B-B14F-4D97-AF65-F5344CB8AC3E}">
        <p14:creationId xmlns:p14="http://schemas.microsoft.com/office/powerpoint/2010/main" val="312172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95784-CEAE-21E1-FE32-F0D897E98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5FB15-70A9-8770-E741-85A838FD3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A Arquitetura da Solução (</a:t>
            </a:r>
            <a:r>
              <a:rPr lang="pt-PT" sz="2800" dirty="0" err="1"/>
              <a:t>Landscape</a:t>
            </a:r>
            <a:r>
              <a:rPr lang="pt-PT" sz="2800" dirty="0"/>
              <a:t>)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723E78F-7361-A923-A0A2-EEFA40159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6950"/>
            <a:ext cx="12192000" cy="430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08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C7C6-B961-BF6B-2C4A-FE98828E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08919-8567-9633-A936-4560E56E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 err="1"/>
              <a:t>ecnologias</a:t>
            </a:r>
            <a:r>
              <a:rPr lang="pt-PT" sz="2800" dirty="0"/>
              <a:t> – Parte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7BC3-20A5-BFB4-CD3E-C5AB1FFD6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1709928"/>
            <a:ext cx="4672584" cy="157276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Ingestão de dados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pt-PT" sz="1300" dirty="0"/>
              <a:t>Apache </a:t>
            </a:r>
            <a:r>
              <a:rPr lang="pt-PT" sz="1300" dirty="0" err="1"/>
              <a:t>Nifi</a:t>
            </a:r>
            <a:endParaRPr lang="pt-PT" sz="13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C39834C-9DF0-7FA0-F5F1-EA5C7620488D}"/>
              </a:ext>
            </a:extLst>
          </p:cNvPr>
          <p:cNvCxnSpPr>
            <a:cxnSpLocks/>
          </p:cNvCxnSpPr>
          <p:nvPr/>
        </p:nvCxnSpPr>
        <p:spPr>
          <a:xfrm>
            <a:off x="5166360" y="2249424"/>
            <a:ext cx="0" cy="43799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Imagem 23">
            <a:extLst>
              <a:ext uri="{FF2B5EF4-FFF2-40B4-BE49-F238E27FC236}">
                <a16:creationId xmlns:a16="http://schemas.microsoft.com/office/drawing/2014/main" id="{30E198E3-14ED-D561-AFB8-3E1CE0DE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77" y="3282697"/>
            <a:ext cx="4591049" cy="2817114"/>
          </a:xfrm>
          <a:prstGeom prst="rect">
            <a:avLst/>
          </a:prstGeom>
        </p:spPr>
      </p:pic>
      <p:sp>
        <p:nvSpPr>
          <p:cNvPr id="27" name="Subtítulo 2">
            <a:extLst>
              <a:ext uri="{FF2B5EF4-FFF2-40B4-BE49-F238E27FC236}">
                <a16:creationId xmlns:a16="http://schemas.microsoft.com/office/drawing/2014/main" id="{3CE71E1C-45A6-00CF-1DFA-D576305BB862}"/>
              </a:ext>
            </a:extLst>
          </p:cNvPr>
          <p:cNvSpPr txBox="1">
            <a:spLocks/>
          </p:cNvSpPr>
          <p:nvPr/>
        </p:nvSpPr>
        <p:spPr>
          <a:xfrm>
            <a:off x="5853911" y="1709928"/>
            <a:ext cx="5751042" cy="16421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streaming (NRT)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Kafka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 Streaming</a:t>
            </a:r>
          </a:p>
          <a:p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38E95892-0B57-A7C0-59DA-CF92DFE45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179" y="3892034"/>
            <a:ext cx="5751042" cy="247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332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7C61C-12AF-50DF-1DB9-E77E8741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392C-19FC-6134-D46C-E5B4BCFE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 err="1"/>
              <a:t>ecnologias</a:t>
            </a:r>
            <a:r>
              <a:rPr lang="pt-PT" sz="2800" dirty="0"/>
              <a:t> – Parte 2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3B64B496-83EF-1820-869C-220A22D812D6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851C8767-CBE1-ED07-1996-5656E89DEC46}"/>
              </a:ext>
            </a:extLst>
          </p:cNvPr>
          <p:cNvSpPr txBox="1">
            <a:spLocks/>
          </p:cNvSpPr>
          <p:nvPr/>
        </p:nvSpPr>
        <p:spPr>
          <a:xfrm>
            <a:off x="7762027" y="1812416"/>
            <a:ext cx="3294888" cy="2054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PostgreSQL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FastAPI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Metabase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93D895-4203-E605-1DCB-72087D5F8156}"/>
              </a:ext>
            </a:extLst>
          </p:cNvPr>
          <p:cNvCxnSpPr>
            <a:cxnSpLocks/>
          </p:cNvCxnSpPr>
          <p:nvPr/>
        </p:nvCxnSpPr>
        <p:spPr>
          <a:xfrm>
            <a:off x="7070131" y="2130552"/>
            <a:ext cx="0" cy="4517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Subtítulo 2">
            <a:extLst>
              <a:ext uri="{FF2B5EF4-FFF2-40B4-BE49-F238E27FC236}">
                <a16:creationId xmlns:a16="http://schemas.microsoft.com/office/drawing/2014/main" id="{39B0EE7A-8EEE-3C70-DDBA-0FF17B4F8628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C6DF296D-5E16-891D-39C3-94AB178B4E9D}"/>
              </a:ext>
            </a:extLst>
          </p:cNvPr>
          <p:cNvSpPr txBox="1">
            <a:spLocks/>
          </p:cNvSpPr>
          <p:nvPr/>
        </p:nvSpPr>
        <p:spPr>
          <a:xfrm>
            <a:off x="395029" y="1711832"/>
            <a:ext cx="6526998" cy="22649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batch (Lote)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Airflow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A7DA93F-8F85-599B-407A-84624521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07" y="3440457"/>
            <a:ext cx="6735111" cy="2505402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7954A8D3-D3F8-8E68-C3E0-9BE22EEA9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6773" y="3933193"/>
            <a:ext cx="2731811" cy="142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69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1628-84DB-0C79-C56E-4C057C5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998F3C-5D5C-9F29-EE6E-9C1CDE158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Unindo Os Pipelines Batch e Streaming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F6C3E8-075B-51FF-7A3D-0EEAD5CCA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Como o Streaming (</a:t>
            </a:r>
            <a:r>
              <a:rPr lang="pt-PT" dirty="0" err="1"/>
              <a:t>nrt</a:t>
            </a:r>
            <a:r>
              <a:rPr lang="pt-PT" dirty="0"/>
              <a:t>) e o batch (Lote) conversam?</a:t>
            </a:r>
          </a:p>
          <a:p>
            <a:pPr marL="914400" lvl="1" indent="-457200" algn="l">
              <a:buAutoNum type="arabicPeriod"/>
            </a:pPr>
            <a:r>
              <a:rPr lang="pt-PT" b="1" dirty="0"/>
              <a:t>O Estado: </a:t>
            </a:r>
            <a:r>
              <a:rPr lang="pt-PT" dirty="0"/>
              <a:t>O streaming usa uma tabela no Postgres como “memória”, para saber a posição anterior do ônibus e calcular a velocidade.</a:t>
            </a:r>
          </a:p>
          <a:p>
            <a:pPr marL="914400" lvl="1" indent="-457200" algn="l">
              <a:buAutoNum type="arabicPeriod"/>
            </a:pPr>
            <a:endParaRPr lang="pt-PT" dirty="0"/>
          </a:p>
          <a:p>
            <a:pPr lvl="1" algn="l"/>
            <a:r>
              <a:rPr lang="pt-PT" b="1" dirty="0"/>
              <a:t>2. 	A Fila (Silver / Delta Lake): </a:t>
            </a:r>
            <a:r>
              <a:rPr lang="pt-PT" dirty="0"/>
              <a:t>Após calcular os KPIs, o streaming faz duas coisas:</a:t>
            </a:r>
          </a:p>
          <a:p>
            <a:pPr lvl="1" algn="l"/>
            <a:r>
              <a:rPr lang="pt-PT" dirty="0"/>
              <a:t>	</a:t>
            </a:r>
            <a:r>
              <a:rPr lang="pt-PT" b="1" dirty="0"/>
              <a:t>a) Entrega NRT: </a:t>
            </a:r>
            <a:r>
              <a:rPr lang="pt-PT" dirty="0"/>
              <a:t>Escreve o resultado em tabelas do PostgreSQL para os dashboards de tempo real.</a:t>
            </a:r>
          </a:p>
          <a:p>
            <a:pPr lvl="1" algn="l"/>
            <a:r>
              <a:rPr lang="pt-PT" dirty="0"/>
              <a:t>	</a:t>
            </a:r>
            <a:r>
              <a:rPr lang="pt-PT" b="1" dirty="0"/>
              <a:t>b) Entrega Histórica: </a:t>
            </a:r>
            <a:r>
              <a:rPr lang="pt-PT" dirty="0"/>
              <a:t>Escreve os mesmos KPIs em uma tabela da Camada Silver (kpis_historicos_para_processar).</a:t>
            </a:r>
          </a:p>
          <a:p>
            <a:pPr lvl="1" algn="l"/>
            <a:endParaRPr lang="pt-PT" dirty="0"/>
          </a:p>
          <a:p>
            <a:pPr lvl="1" algn="l"/>
            <a:r>
              <a:rPr lang="pt-PT" b="1" dirty="0"/>
              <a:t>3. 	A Consolidação (Batch): </a:t>
            </a:r>
            <a:r>
              <a:rPr lang="pt-PT" dirty="0"/>
              <a:t>O pipeline de lote (Airflow/Spark) lê essa tabela e faz o MERGE nas tabelas fato_velocidade_linha e fato_onibus_parados_linha da Camada Gold, consolidando o histórico de forma assíncrona.</a:t>
            </a:r>
          </a:p>
        </p:txBody>
      </p:sp>
    </p:spTree>
    <p:extLst>
      <p:ext uri="{BB962C8B-B14F-4D97-AF65-F5344CB8AC3E}">
        <p14:creationId xmlns:p14="http://schemas.microsoft.com/office/powerpoint/2010/main" val="1616817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E3759-BB3A-3F7E-3468-5FAEF11F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CB332-670C-E332-1D2D-AA8945DEE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Demonstração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A356A1B-E9BF-9F0A-E988-EDFD96B04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005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3AEF-DE80-C15A-7296-A9C460D9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4CB44-F52E-2B83-E599-92EC4D8C7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Conclusão e Próximos Passos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8F12B3-9065-B2EC-A2C5-64BC95007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 que foi entregue: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plataforma de dados ponta-a-ponta.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Dashboards históricos (Bach) e operacionais (NRT) funcionais.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"fonte da verdade" (Gold Lakehouse) confiável e escalável.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Próximos Passos: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Enriquecer a camada Gold: </a:t>
            </a:r>
            <a:r>
              <a:rPr lang="pt-PT" dirty="0"/>
              <a:t>mais KPIs e informações.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PoC para Cloud: </a:t>
            </a:r>
            <a:r>
              <a:rPr lang="pt-PT" dirty="0"/>
              <a:t>migração para AWS, </a:t>
            </a:r>
            <a:r>
              <a:rPr lang="pt-PT" dirty="0" err="1"/>
              <a:t>Azure</a:t>
            </a:r>
            <a:r>
              <a:rPr lang="pt-PT" dirty="0"/>
              <a:t> ou GCP.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Alertas: </a:t>
            </a:r>
            <a:r>
              <a:rPr lang="pt-PT" dirty="0"/>
              <a:t>Criar alertas automáticos (Ex: "Linha 8000 está com velocidade abaixo de 5km/h há 10 minutos").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Machine Learning: </a:t>
            </a:r>
            <a:r>
              <a:rPr lang="pt-PT" dirty="0"/>
              <a:t>Usar o histórico gerado de velocidade e posições para treinar modelos de previsão de chegada (ETA).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Novos Dashboards: </a:t>
            </a:r>
            <a:r>
              <a:rPr lang="pt-PT" dirty="0"/>
              <a:t>Análise de performance por concessionária, por período do dia, etc.</a:t>
            </a:r>
          </a:p>
        </p:txBody>
      </p:sp>
    </p:spTree>
    <p:extLst>
      <p:ext uri="{BB962C8B-B14F-4D97-AF65-F5344CB8AC3E}">
        <p14:creationId xmlns:p14="http://schemas.microsoft.com/office/powerpoint/2010/main" val="3686714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6FE3-A59A-6CD1-E378-2A9CFB9C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6C4F3-BF5E-7697-2F9C-6DB063D57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Perguntas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9088C0-6136-E2CD-4A0E-C50FB5B1B8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46466802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565</Words>
  <Application>Microsoft Office PowerPoint</Application>
  <PresentationFormat>Widescreen</PresentationFormat>
  <Paragraphs>70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Courier New</vt:lpstr>
      <vt:lpstr>Grandview Display</vt:lpstr>
      <vt:lpstr>DashVTI</vt:lpstr>
      <vt:lpstr>Monitoramento da Frota de Ônibus de SP</vt:lpstr>
      <vt:lpstr>Nossa Missão: Duas Visões, Uma Plataforma de Conteúdo</vt:lpstr>
      <vt:lpstr>Os Objetivos do Projeto</vt:lpstr>
      <vt:lpstr>A Arquitetura da Solução (Landscape)</vt:lpstr>
      <vt:lpstr>Ferramentas e Tecnologias – Parte 1</vt:lpstr>
      <vt:lpstr>Ferramentas e Tecnologias – Parte 2</vt:lpstr>
      <vt:lpstr>Unindo Os Pipelines Batch e Streaming</vt:lpstr>
      <vt:lpstr>Demonstração</vt:lpstr>
      <vt:lpstr>Conclusão e Próximos Passos</vt:lpstr>
      <vt:lpstr>Perguntas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Palmeira</dc:creator>
  <cp:lastModifiedBy>Guilherme Palmeira</cp:lastModifiedBy>
  <cp:revision>22</cp:revision>
  <dcterms:created xsi:type="dcterms:W3CDTF">2025-10-27T16:34:08Z</dcterms:created>
  <dcterms:modified xsi:type="dcterms:W3CDTF">2025-10-27T22:02:58Z</dcterms:modified>
</cp:coreProperties>
</file>