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67" r:id="rId4"/>
    <p:sldId id="258" r:id="rId5"/>
    <p:sldId id="266" r:id="rId6"/>
    <p:sldId id="260" r:id="rId7"/>
    <p:sldId id="259" r:id="rId8"/>
    <p:sldId id="264" r:id="rId9"/>
    <p:sldId id="265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3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10/30/2025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4900"/>
              <a:t>Monitoramento da Frota de Ônibus de SP</a:t>
            </a:r>
            <a:endParaRPr lang="pt-PT" sz="49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7528" y="5289573"/>
            <a:ext cx="4308672" cy="935419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para Análise histórica e Operacional da frota da SPTrans</a:t>
            </a:r>
            <a:endParaRPr lang="pt-PT" sz="1500" dirty="0"/>
          </a:p>
        </p:txBody>
      </p:sp>
      <p:pic>
        <p:nvPicPr>
          <p:cNvPr id="2059" name="Picture 2058" descr="Ônibus em movimento">
            <a:extLst>
              <a:ext uri="{FF2B5EF4-FFF2-40B4-BE49-F238E27FC236}">
                <a16:creationId xmlns:a16="http://schemas.microsoft.com/office/drawing/2014/main" id="{6E65909B-7F74-F431-EB8A-58E9A5792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44" r="2693" b="-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065" name="Straight Connector 206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103121"/>
            <a:ext cx="11301984" cy="4361688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NRT (Near Real-Time):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Quantos ônibus estão em congestionamento agora?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são as linhas mais lentas?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linhas estão enfrentando congestionamento agora?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Histórica e Consolidada (Batch):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foi o pico de ônibus em operação no período da manhã?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o percentual da frota congestionada nas últimas horas?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30CE-7239-F738-1C85-B22F7CDE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F89B4-A10D-5C18-2A9E-6A5546108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Premissas Para a Proposta de Solução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CFE901-0115-CF62-EDA0-06B8F86A5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679191"/>
            <a:ext cx="11301984" cy="3026665"/>
          </a:xfrm>
        </p:spPr>
        <p:txBody>
          <a:bodyPr anchor="t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Utilizar tecnologias aprendidas no curso – stack moderna e open-</a:t>
            </a:r>
            <a:r>
              <a:rPr lang="pt-PT" sz="1600" dirty="0" err="1"/>
              <a:t>source</a:t>
            </a:r>
            <a:r>
              <a:rPr lang="pt-P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Infraestrutura portátil e reprodutível – Docker.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Qualidade de dados via a Arquitetura medalhão.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Disponibilizar os dados através de múltiplos canais de consumo.</a:t>
            </a:r>
          </a:p>
        </p:txBody>
      </p:sp>
    </p:spTree>
    <p:extLst>
      <p:ext uri="{BB962C8B-B14F-4D97-AF65-F5344CB8AC3E}">
        <p14:creationId xmlns:p14="http://schemas.microsoft.com/office/powerpoint/2010/main" val="32341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Operacional (Pipeline Streaming - NRT)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"raio-x" da operação da frota com baixa latência (Near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Estratégica (Pipeline 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 de forma consolidada.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- NRT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1 - Pipeline Streaming - NRT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402568" cy="1259762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1 - Coleta e limpeza (kafka -&gt; silver), particionado por ano/mês/dia/hora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2 - Cálculo de kpis e entrega de dados (silver -&gt; postgresql +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nrt atualizados a cada 4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10CDF2-7D98-394C-E50D-3671C3F82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2040591"/>
            <a:ext cx="10772775" cy="2776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2 - Pipeline Batch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768" y="4769358"/>
            <a:ext cx="11301984" cy="1924049"/>
          </a:xfrm>
        </p:spPr>
        <p:txBody>
          <a:bodyPr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1 - Coleta e limpeza (Bronze -&gt; Silver), particionado por ano/mês/dia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Agregação e consolidação dos kpis (Silver -&gt; Gold/</a:t>
            </a:r>
            <a:r>
              <a:rPr lang="pt-PT" sz="1300" dirty="0" err="1"/>
              <a:t>lakehouse</a:t>
            </a:r>
            <a:r>
              <a:rPr lang="pt-PT" sz="13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entrega de dados (Gold/</a:t>
            </a:r>
            <a:r>
              <a:rPr lang="pt-PT" sz="1300" dirty="0" err="1"/>
              <a:t>lakehouse</a:t>
            </a:r>
            <a:r>
              <a:rPr lang="pt-PT" sz="1300" dirty="0"/>
              <a:t> -&gt; postgresql).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>
                <a:solidFill>
                  <a:srgbClr val="0070C0"/>
                </a:solidFill>
              </a:rPr>
              <a:t>Resultado: dados para os dashboards históricos consolidados e atualizados a cada hora.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948F782-D800-48D5-F0FD-3BD062E26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924050"/>
            <a:ext cx="10544176" cy="277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9628632" cy="552451"/>
          </a:xfrm>
        </p:spPr>
        <p:txBody>
          <a:bodyPr>
            <a:normAutofit fontScale="90000"/>
          </a:bodyPr>
          <a:lstStyle/>
          <a:p>
            <a:r>
              <a:rPr lang="pt-PT" sz="2800" dirty="0"/>
              <a:t>Objetivo 3 - Arquitetura Unificada (Pipelines Batch e Streaming)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EE3A27-1048-ADCF-2688-0AC21F0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2" y="2085975"/>
            <a:ext cx="1094695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239512" y="2221992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BCCE95F-DEA1-7C1C-5DE6-3EE072B2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03530"/>
            <a:ext cx="4581524" cy="194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 – Pipeline em 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2221993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Dashboards no metabase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Near Real-Time.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Análise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dos micro-lotes com Spark streaming.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Dados acessíveis de forma federada.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novos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Perguntas</a:t>
            </a:r>
          </a:p>
        </p:txBody>
      </p:sp>
      <p:pic>
        <p:nvPicPr>
          <p:cNvPr id="1028" name="Picture 4" descr="Ponto de interrogação - ícones de logotipo grátis">
            <a:extLst>
              <a:ext uri="{FF2B5EF4-FFF2-40B4-BE49-F238E27FC236}">
                <a16:creationId xmlns:a16="http://schemas.microsoft.com/office/drawing/2014/main" id="{E57EC2C1-BD48-8D2F-78FA-71D737066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2" y="2028826"/>
            <a:ext cx="345757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602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Premissas Para a Proposta de Solução</vt:lpstr>
      <vt:lpstr>Objetivos do Projeto</vt:lpstr>
      <vt:lpstr>Objetivo 1 - Pipeline Streaming - NRT</vt:lpstr>
      <vt:lpstr>Objetivo 2 - Pipeline Batch</vt:lpstr>
      <vt:lpstr>Objetivo 3 - Arquitetura Unificada (Pipelines Batch e Streaming)</vt:lpstr>
      <vt:lpstr>Ferramentas e Tecnologias – Parte 1</vt:lpstr>
      <vt:lpstr>Ferramentas e Tecnologias – Parte 2</vt:lpstr>
      <vt:lpstr>Demonstração – Pipeline em 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35</cp:revision>
  <dcterms:created xsi:type="dcterms:W3CDTF">2025-10-27T16:34:08Z</dcterms:created>
  <dcterms:modified xsi:type="dcterms:W3CDTF">2025-10-30T20:51:27Z</dcterms:modified>
</cp:coreProperties>
</file>