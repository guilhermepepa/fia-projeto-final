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</p:sldMasterIdLst>
  <p:sldIdLst>
    <p:sldId id="256" r:id="rId2"/>
    <p:sldId id="257" r:id="rId3"/>
    <p:sldId id="267" r:id="rId4"/>
    <p:sldId id="258" r:id="rId5"/>
    <p:sldId id="266" r:id="rId6"/>
    <p:sldId id="260" r:id="rId7"/>
    <p:sldId id="259" r:id="rId8"/>
    <p:sldId id="264" r:id="rId9"/>
    <p:sldId id="265" r:id="rId10"/>
    <p:sldId id="261" r:id="rId11"/>
    <p:sldId id="262" r:id="rId12"/>
    <p:sldId id="263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914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4353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3" name="Rectangle 2062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98D27E5-A753-C962-CD54-9BBA1CFAA0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37528" y="1032764"/>
            <a:ext cx="4308672" cy="3224045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pt-BR" sz="4900"/>
              <a:t>Monitoramento da Frota de Ônibus de SP</a:t>
            </a:r>
            <a:endParaRPr lang="pt-PT" sz="490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A9B6A44-653B-B8EA-9B32-1BB10FCB13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37528" y="5289573"/>
            <a:ext cx="4308672" cy="935419"/>
          </a:xfrm>
        </p:spPr>
        <p:txBody>
          <a:bodyPr anchor="t">
            <a:normAutofit/>
          </a:bodyPr>
          <a:lstStyle/>
          <a:p>
            <a:pPr>
              <a:lnSpc>
                <a:spcPct val="120000"/>
              </a:lnSpc>
            </a:pPr>
            <a:r>
              <a:rPr lang="pt-BR" sz="1500" dirty="0"/>
              <a:t>Uma arquitetura para Análise histórica e Operacional da frota da SPTrans</a:t>
            </a:r>
            <a:endParaRPr lang="pt-PT" sz="1500" dirty="0"/>
          </a:p>
        </p:txBody>
      </p:sp>
      <p:pic>
        <p:nvPicPr>
          <p:cNvPr id="2059" name="Picture 2058" descr="Ônibus em movimento">
            <a:extLst>
              <a:ext uri="{FF2B5EF4-FFF2-40B4-BE49-F238E27FC236}">
                <a16:creationId xmlns:a16="http://schemas.microsoft.com/office/drawing/2014/main" id="{6E65909B-7F74-F431-EB8A-58E9A5792C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844" r="2693" b="-1"/>
          <a:stretch>
            <a:fillRect/>
          </a:stretch>
        </p:blipFill>
        <p:spPr>
          <a:xfrm>
            <a:off x="20" y="10"/>
            <a:ext cx="6931132" cy="6857990"/>
          </a:xfrm>
          <a:prstGeom prst="rect">
            <a:avLst/>
          </a:prstGeom>
        </p:spPr>
      </p:pic>
      <p:cxnSp>
        <p:nvCxnSpPr>
          <p:cNvPr id="2065" name="Straight Connector 2064">
            <a:extLst>
              <a:ext uri="{FF2B5EF4-FFF2-40B4-BE49-F238E27FC236}">
                <a16:creationId xmlns:a16="http://schemas.microsoft.com/office/drawing/2014/main" id="{6CA391F1-4B2C-521B-F6A5-52C74B3034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675848" y="47115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2626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74FD8E-A1DC-38AF-0995-46BD7FE7C8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10671048" cy="552451"/>
          </a:xfrm>
        </p:spPr>
        <p:txBody>
          <a:bodyPr>
            <a:normAutofit/>
          </a:bodyPr>
          <a:lstStyle/>
          <a:p>
            <a:r>
              <a:rPr lang="pt-PT" sz="2800" dirty="0"/>
              <a:t>Nossa Missão: Duas Visões, Uma Plataforma de Conteúdo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0C4E4CB-14BB-7A33-633C-C816F8C76F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2103121"/>
            <a:ext cx="11301984" cy="4361688"/>
          </a:xfrm>
        </p:spPr>
        <p:txBody>
          <a:bodyPr anchor="t">
            <a:normAutofit fontScale="70000" lnSpcReduction="2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/>
              <a:t>A SPTrans gera milhões de pontos de dados de geolocalização todos os dias.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/>
              <a:t>Esses dados são de natureza transitória (efêmeros) e massivos (crescem rapidamente).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/>
              <a:t>Perguntas de Negócio, sem Resposta Fácil: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endParaRPr lang="pt-PT" dirty="0"/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t-PT" dirty="0">
                <a:solidFill>
                  <a:srgbClr val="0070C0"/>
                </a:solidFill>
              </a:rPr>
              <a:t>Visão NRT (Near Real-Time): </a:t>
            </a:r>
          </a:p>
          <a:p>
            <a:pPr marL="1200150" lvl="2" indent="-285750" algn="l">
              <a:buFont typeface="Arial" panose="020B0604020202020204" pitchFamily="34" charset="0"/>
              <a:buChar char="•"/>
            </a:pPr>
            <a:r>
              <a:rPr lang="pt-PT" dirty="0">
                <a:solidFill>
                  <a:srgbClr val="0070C0"/>
                </a:solidFill>
              </a:rPr>
              <a:t>Quantos ônibus estão em congestionamento agora?</a:t>
            </a:r>
          </a:p>
          <a:p>
            <a:pPr marL="1200150" lvl="2" indent="-285750" algn="l">
              <a:buFont typeface="Arial" panose="020B0604020202020204" pitchFamily="34" charset="0"/>
              <a:buChar char="•"/>
            </a:pPr>
            <a:r>
              <a:rPr lang="pt-PT" dirty="0">
                <a:solidFill>
                  <a:srgbClr val="0070C0"/>
                </a:solidFill>
              </a:rPr>
              <a:t>Quais são as linhas mais lentas? </a:t>
            </a:r>
          </a:p>
          <a:p>
            <a:pPr marL="1200150" lvl="2" indent="-285750" algn="l">
              <a:buFont typeface="Arial" panose="020B0604020202020204" pitchFamily="34" charset="0"/>
              <a:buChar char="•"/>
            </a:pPr>
            <a:r>
              <a:rPr lang="pt-PT" dirty="0">
                <a:solidFill>
                  <a:srgbClr val="0070C0"/>
                </a:solidFill>
              </a:rPr>
              <a:t>Quais linhas estão enfrentando congestionamento agora?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endParaRPr lang="pt-PT" dirty="0"/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t-PT" dirty="0">
                <a:solidFill>
                  <a:srgbClr val="0070C0"/>
                </a:solidFill>
              </a:rPr>
              <a:t>Visão Histórica e Consolidada (Batch): </a:t>
            </a:r>
          </a:p>
          <a:p>
            <a:pPr marL="1200150" lvl="2" indent="-285750" algn="l">
              <a:buFont typeface="Arial" panose="020B0604020202020204" pitchFamily="34" charset="0"/>
              <a:buChar char="•"/>
            </a:pPr>
            <a:r>
              <a:rPr lang="pt-PT" dirty="0">
                <a:solidFill>
                  <a:srgbClr val="0070C0"/>
                </a:solidFill>
              </a:rPr>
              <a:t>Qual foi o pico de ônibus em operação no período da manhã?</a:t>
            </a:r>
          </a:p>
          <a:p>
            <a:pPr marL="1200150" lvl="2" indent="-285750" algn="l">
              <a:buFont typeface="Arial" panose="020B0604020202020204" pitchFamily="34" charset="0"/>
              <a:buChar char="•"/>
            </a:pPr>
            <a:r>
              <a:rPr lang="pt-PT" dirty="0">
                <a:solidFill>
                  <a:srgbClr val="0070C0"/>
                </a:solidFill>
              </a:rPr>
              <a:t>Qual o percentual da frota congestionada nas últimas horas?</a:t>
            </a:r>
          </a:p>
        </p:txBody>
      </p:sp>
    </p:spTree>
    <p:extLst>
      <p:ext uri="{BB962C8B-B14F-4D97-AF65-F5344CB8AC3E}">
        <p14:creationId xmlns:p14="http://schemas.microsoft.com/office/powerpoint/2010/main" val="569064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0930CE-7239-F738-1C85-B22F7CDE5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7F89B4-A10D-5C18-2A9E-6A55461087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552451"/>
          </a:xfrm>
        </p:spPr>
        <p:txBody>
          <a:bodyPr>
            <a:normAutofit/>
          </a:bodyPr>
          <a:lstStyle/>
          <a:p>
            <a:r>
              <a:rPr lang="pt-PT" sz="2800" dirty="0"/>
              <a:t>Premissas Para a Proposta de Solução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DCFE901-0115-CF62-EDA0-06B8F86A59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2679191"/>
            <a:ext cx="11301984" cy="3026665"/>
          </a:xfrm>
        </p:spPr>
        <p:txBody>
          <a:bodyPr anchor="t">
            <a:normAutofit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600" dirty="0"/>
              <a:t>Utilizar tecnologias aprendidas no curso – stack moderna e open-</a:t>
            </a:r>
            <a:r>
              <a:rPr lang="pt-PT" sz="1600" dirty="0" err="1"/>
              <a:t>source</a:t>
            </a:r>
            <a:r>
              <a:rPr lang="pt-PT" sz="16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600" dirty="0"/>
              <a:t>Infraestrutura portátil e reprodutível – Docker.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600" dirty="0"/>
              <a:t>Qualidade de dados via a Arquitetura medalhão.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600" dirty="0"/>
              <a:t>Disponibilizar os dados através de múltiplos canais de consumo.</a:t>
            </a:r>
          </a:p>
        </p:txBody>
      </p:sp>
    </p:spTree>
    <p:extLst>
      <p:ext uri="{BB962C8B-B14F-4D97-AF65-F5344CB8AC3E}">
        <p14:creationId xmlns:p14="http://schemas.microsoft.com/office/powerpoint/2010/main" val="323414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BA0832-7EBC-810C-ACFC-D0C21B153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D9F741-43C3-DA5A-E85A-A208BCCBE0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552451"/>
          </a:xfrm>
        </p:spPr>
        <p:txBody>
          <a:bodyPr>
            <a:normAutofit/>
          </a:bodyPr>
          <a:lstStyle/>
          <a:p>
            <a:r>
              <a:rPr lang="pt-PT" sz="2800" dirty="0"/>
              <a:t>Objetivos do Projeto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4782399-349F-9A8F-57E0-E0767C8B55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2404871"/>
            <a:ext cx="11301984" cy="4059937"/>
          </a:xfrm>
        </p:spPr>
        <p:txBody>
          <a:bodyPr anchor="t">
            <a:normAutofit fontScale="92500"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/>
              <a:t>Objetivo 1: Visão Operacional (Pipeline Streaming - NRT)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t-PT" dirty="0"/>
              <a:t>Fornecer um "raio-x" da operação da frota com baixa latência (Near Real-Time).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t-PT" dirty="0"/>
              <a:t>KPIs-chave: Velocidade média por linha e contagem de ônibus parados/congestionados.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/>
              <a:t>Objetivo 2: Visão Estratégica (Pipeline Batch)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t-PT" dirty="0"/>
              <a:t>Analisar tendências e performance histórica de forma consolidada.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t-PT" dirty="0"/>
              <a:t>KPIs-chave: Velocidade média histórica e contagem de ônibus parados/parados por hora.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/>
              <a:t>Objetivo 3: Arquitetura Unificada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t-PT" dirty="0"/>
              <a:t>Construir uma Arquitetura Medalhão, Híbrida Batch/Streaming - NRT que suporte ambas visões.</a:t>
            </a:r>
          </a:p>
        </p:txBody>
      </p:sp>
    </p:spTree>
    <p:extLst>
      <p:ext uri="{BB962C8B-B14F-4D97-AF65-F5344CB8AC3E}">
        <p14:creationId xmlns:p14="http://schemas.microsoft.com/office/powerpoint/2010/main" val="31217289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063DD-6F4D-3050-38AF-D7F80035F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2C37C2-1C77-8746-6A67-36A76A90D8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552451"/>
          </a:xfrm>
        </p:spPr>
        <p:txBody>
          <a:bodyPr>
            <a:normAutofit/>
          </a:bodyPr>
          <a:lstStyle/>
          <a:p>
            <a:r>
              <a:rPr lang="pt-PT" sz="2800" dirty="0"/>
              <a:t>Objetivo 1 - Pipeline Streaming - NRT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BF71976-B0C7-1CF3-CB9D-3C6C56AB19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5205046"/>
            <a:ext cx="11402568" cy="1259762"/>
          </a:xfrm>
        </p:spPr>
        <p:txBody>
          <a:bodyPr anchor="t">
            <a:normAutofit fontScale="70000" lnSpcReduction="2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/>
              <a:t>Worker 1 - Coleta e limpeza (kafka -&gt; silver), particionado por ano/mês/dia/hora na camada silver.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/>
              <a:t>Worker 2 - Cálculo de kpis e entrega de dados (silver -&gt; postgresql + Silver).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>
                <a:solidFill>
                  <a:srgbClr val="0070C0"/>
                </a:solidFill>
              </a:rPr>
              <a:t>Resultado: dados para os dashboards nrt atualizados a cada 4 minutos.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D10CDF2-7D98-394C-E50D-3671C3F826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612" y="2040591"/>
            <a:ext cx="10772775" cy="2776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5488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E1628-84DB-0C79-C56E-4C057C54D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998F3C-5D5C-9F29-EE6E-9C1CDE1581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552451"/>
          </a:xfrm>
        </p:spPr>
        <p:txBody>
          <a:bodyPr>
            <a:normAutofit/>
          </a:bodyPr>
          <a:lstStyle/>
          <a:p>
            <a:r>
              <a:rPr lang="pt-PT" sz="2800" dirty="0"/>
              <a:t>Objetivo 2 - Pipeline Batch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7F6C3E8-075B-51FF-7A3D-0EEAD5CCAF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0768" y="4769358"/>
            <a:ext cx="11301984" cy="1924049"/>
          </a:xfrm>
        </p:spPr>
        <p:txBody>
          <a:bodyPr anchor="t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300" dirty="0"/>
              <a:t>Dag 1 - Coleta e limpeza (Bronze -&gt; Silver), particionado por ano/mês/dia na camada silver.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300" dirty="0"/>
              <a:t>Dag 2 - Agregação e consolidação dos kpis (Silver -&gt; Gold/lakehouse).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300" dirty="0"/>
              <a:t>Dag 2 - entrega de dados (Gold/lakehouse -&gt; postgresql).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300" dirty="0">
                <a:solidFill>
                  <a:srgbClr val="0070C0"/>
                </a:solidFill>
              </a:rPr>
              <a:t>Resultado: dados para os dashboards históricos consolidados e atualizados a cada hora.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948F782-D800-48D5-F0FD-3BD062E261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912" y="1924050"/>
            <a:ext cx="10544176" cy="2778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8172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95784-CEAE-21E1-FE32-F0D897E98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D5FB15-70A9-8770-E741-85A838FD38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79" y="1371599"/>
            <a:ext cx="10946955" cy="552451"/>
          </a:xfrm>
        </p:spPr>
        <p:txBody>
          <a:bodyPr>
            <a:noAutofit/>
          </a:bodyPr>
          <a:lstStyle/>
          <a:p>
            <a:r>
              <a:rPr lang="pt-PT" sz="2800" dirty="0"/>
              <a:t>Objetivo 3 - Arquitetura Unificada (Pipelines Batch e Streaming)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DEE3A27-1048-ADCF-2688-0AC21F039B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522" y="2085975"/>
            <a:ext cx="10946955" cy="41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9085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CC7C6-B961-BF6B-2C4A-FE98828E4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108919-8567-9633-A936-4560E56EEE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552451"/>
          </a:xfrm>
        </p:spPr>
        <p:txBody>
          <a:bodyPr>
            <a:normAutofit/>
          </a:bodyPr>
          <a:lstStyle/>
          <a:p>
            <a:r>
              <a:rPr lang="pt-BR" sz="2800" dirty="0"/>
              <a:t>Ferramentas e T</a:t>
            </a:r>
            <a:r>
              <a:rPr lang="pt-PT" sz="2800" dirty="0"/>
              <a:t>ecnologias – Parte 1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68B7BC3-20A5-BFB4-CD3E-C5AB1FFD69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1709928"/>
            <a:ext cx="4672584" cy="1572769"/>
          </a:xfrm>
        </p:spPr>
        <p:txBody>
          <a:bodyPr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/>
              <a:t>Ingestão de dados</a:t>
            </a:r>
          </a:p>
          <a:p>
            <a:pPr marL="742950" lvl="1" indent="-285750" algn="l">
              <a:buFont typeface="Courier New" panose="02070309020205020404" pitchFamily="49" charset="0"/>
              <a:buChar char="o"/>
            </a:pPr>
            <a:r>
              <a:rPr lang="pt-PT" sz="1300" dirty="0"/>
              <a:t>Apache </a:t>
            </a:r>
            <a:r>
              <a:rPr lang="pt-PT" sz="1300" dirty="0" err="1"/>
              <a:t>Nifi</a:t>
            </a:r>
            <a:endParaRPr lang="pt-PT" sz="1300" dirty="0"/>
          </a:p>
          <a:p>
            <a:pPr marL="742950" lvl="1" indent="-285750" algn="l">
              <a:buFont typeface="Arial" panose="020B0604020202020204" pitchFamily="34" charset="0"/>
              <a:buChar char="•"/>
            </a:pPr>
            <a:endParaRPr lang="pt-PT" dirty="0"/>
          </a:p>
          <a:p>
            <a:pPr marL="742950" lvl="1" indent="-285750" algn="l">
              <a:buFont typeface="Arial" panose="020B0604020202020204" pitchFamily="34" charset="0"/>
              <a:buChar char="•"/>
            </a:pPr>
            <a:endParaRPr lang="pt-PT" dirty="0"/>
          </a:p>
          <a:p>
            <a:endParaRPr lang="pt-PT" dirty="0"/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AC39834C-9DF0-7FA0-F5F1-EA5C7620488D}"/>
              </a:ext>
            </a:extLst>
          </p:cNvPr>
          <p:cNvCxnSpPr>
            <a:cxnSpLocks/>
          </p:cNvCxnSpPr>
          <p:nvPr/>
        </p:nvCxnSpPr>
        <p:spPr>
          <a:xfrm>
            <a:off x="5239512" y="2221992"/>
            <a:ext cx="0" cy="437997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4" name="Imagem 23">
            <a:extLst>
              <a:ext uri="{FF2B5EF4-FFF2-40B4-BE49-F238E27FC236}">
                <a16:creationId xmlns:a16="http://schemas.microsoft.com/office/drawing/2014/main" id="{30E198E3-14ED-D561-AFB8-3E1CE0DE98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277" y="3282697"/>
            <a:ext cx="4591049" cy="2817114"/>
          </a:xfrm>
          <a:prstGeom prst="rect">
            <a:avLst/>
          </a:prstGeom>
        </p:spPr>
      </p:pic>
      <p:sp>
        <p:nvSpPr>
          <p:cNvPr id="27" name="Subtítulo 2">
            <a:extLst>
              <a:ext uri="{FF2B5EF4-FFF2-40B4-BE49-F238E27FC236}">
                <a16:creationId xmlns:a16="http://schemas.microsoft.com/office/drawing/2014/main" id="{3CE71E1C-45A6-00CF-1DFA-D576305BB862}"/>
              </a:ext>
            </a:extLst>
          </p:cNvPr>
          <p:cNvSpPr txBox="1">
            <a:spLocks/>
          </p:cNvSpPr>
          <p:nvPr/>
        </p:nvSpPr>
        <p:spPr>
          <a:xfrm>
            <a:off x="5853911" y="1709928"/>
            <a:ext cx="5751042" cy="164215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None/>
              <a:defRPr sz="1800" b="1" kern="1200" cap="all" spc="3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/>
              <a:t>Processamento streaming (NRT)</a:t>
            </a:r>
          </a:p>
          <a:p>
            <a:pPr marL="800100" lvl="1" indent="-342900" algn="l">
              <a:buFont typeface="Courier New" panose="02070309020205020404" pitchFamily="49" charset="0"/>
              <a:buChar char="o"/>
            </a:pPr>
            <a:r>
              <a:rPr lang="pt-PT" sz="1300" dirty="0"/>
              <a:t>Apache Kafka</a:t>
            </a:r>
          </a:p>
          <a:p>
            <a:pPr marL="800100" lvl="1" indent="-342900" algn="l">
              <a:buFont typeface="Courier New" panose="02070309020205020404" pitchFamily="49" charset="0"/>
              <a:buChar char="o"/>
            </a:pPr>
            <a:r>
              <a:rPr lang="pt-PT" sz="1300" dirty="0"/>
              <a:t>Apache Spark Streaming</a:t>
            </a:r>
          </a:p>
          <a:p>
            <a:endParaRPr lang="pt-PT" dirty="0"/>
          </a:p>
          <a:p>
            <a:pPr marL="742950" lvl="1" indent="-285750" algn="l">
              <a:buFont typeface="Arial" panose="020B0604020202020204" pitchFamily="34" charset="0"/>
              <a:buChar char="•"/>
            </a:pPr>
            <a:endParaRPr lang="pt-PT" dirty="0"/>
          </a:p>
          <a:p>
            <a:pPr marL="742950" lvl="1" indent="-285750" algn="l">
              <a:buFont typeface="Arial" panose="020B0604020202020204" pitchFamily="34" charset="0"/>
              <a:buChar char="•"/>
            </a:pPr>
            <a:endParaRPr lang="pt-PT" dirty="0"/>
          </a:p>
          <a:p>
            <a:endParaRPr lang="pt-PT" dirty="0"/>
          </a:p>
        </p:txBody>
      </p:sp>
      <p:pic>
        <p:nvPicPr>
          <p:cNvPr id="28" name="Imagem 27">
            <a:extLst>
              <a:ext uri="{FF2B5EF4-FFF2-40B4-BE49-F238E27FC236}">
                <a16:creationId xmlns:a16="http://schemas.microsoft.com/office/drawing/2014/main" id="{38E95892-0B57-A7C0-59DA-CF92DFE452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1755" y="3623668"/>
            <a:ext cx="5751042" cy="2476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3321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7C61C-12AF-50DF-1DB9-E77E8741B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81392C-19FC-6134-D46C-E5B4BCFEF1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552451"/>
          </a:xfrm>
        </p:spPr>
        <p:txBody>
          <a:bodyPr>
            <a:normAutofit/>
          </a:bodyPr>
          <a:lstStyle/>
          <a:p>
            <a:r>
              <a:rPr lang="pt-BR" sz="2800" dirty="0"/>
              <a:t>Ferramentas e T</a:t>
            </a:r>
            <a:r>
              <a:rPr lang="pt-PT" sz="2800" dirty="0"/>
              <a:t>ecnologias – Parte 2</a:t>
            </a:r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3B64B496-83EF-1820-869C-220A22D812D6}"/>
              </a:ext>
            </a:extLst>
          </p:cNvPr>
          <p:cNvSpPr txBox="1">
            <a:spLocks/>
          </p:cNvSpPr>
          <p:nvPr/>
        </p:nvSpPr>
        <p:spPr>
          <a:xfrm>
            <a:off x="6096000" y="2591563"/>
            <a:ext cx="4672584" cy="320573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None/>
              <a:defRPr sz="1800" b="1" kern="1200" cap="all" spc="3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dirty="0"/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851C8767-CBE1-ED07-1996-5656E89DEC46}"/>
              </a:ext>
            </a:extLst>
          </p:cNvPr>
          <p:cNvSpPr txBox="1">
            <a:spLocks/>
          </p:cNvSpPr>
          <p:nvPr/>
        </p:nvSpPr>
        <p:spPr>
          <a:xfrm>
            <a:off x="7762027" y="1812416"/>
            <a:ext cx="3294888" cy="205459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None/>
              <a:defRPr sz="1800" b="1" kern="1200" cap="all" spc="3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/>
              <a:t>Entrega de dados</a:t>
            </a:r>
          </a:p>
          <a:p>
            <a:pPr marL="800100" lvl="1" indent="-342900" algn="l">
              <a:buFont typeface="Courier New" panose="02070309020205020404" pitchFamily="49" charset="0"/>
              <a:buChar char="o"/>
            </a:pPr>
            <a:r>
              <a:rPr lang="pt-PT" sz="1400" dirty="0"/>
              <a:t>PostgreSQL</a:t>
            </a:r>
          </a:p>
          <a:p>
            <a:pPr marL="800100" lvl="1" indent="-342900" algn="l">
              <a:buFont typeface="Courier New" panose="02070309020205020404" pitchFamily="49" charset="0"/>
              <a:buChar char="o"/>
            </a:pPr>
            <a:r>
              <a:rPr lang="pt-PT" sz="1400" dirty="0"/>
              <a:t>FastAPI</a:t>
            </a:r>
          </a:p>
          <a:p>
            <a:pPr marL="800100" lvl="1" indent="-342900" algn="l">
              <a:buFont typeface="Courier New" panose="02070309020205020404" pitchFamily="49" charset="0"/>
              <a:buChar char="o"/>
            </a:pPr>
            <a:r>
              <a:rPr lang="pt-PT" sz="1400" dirty="0"/>
              <a:t>Metabase</a:t>
            </a:r>
          </a:p>
          <a:p>
            <a:pPr marL="800100" lvl="1" indent="-342900" algn="l">
              <a:buFont typeface="Courier New" panose="02070309020205020404" pitchFamily="49" charset="0"/>
              <a:buChar char="o"/>
            </a:pPr>
            <a:r>
              <a:rPr lang="pt-PT" sz="1400" dirty="0"/>
              <a:t>Trino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endParaRPr lang="pt-PT" dirty="0"/>
          </a:p>
          <a:p>
            <a:pPr marL="742950" lvl="1" indent="-285750" algn="l">
              <a:buFont typeface="Arial" panose="020B0604020202020204" pitchFamily="34" charset="0"/>
              <a:buChar char="•"/>
            </a:pPr>
            <a:endParaRPr lang="pt-PT" dirty="0"/>
          </a:p>
          <a:p>
            <a:endParaRPr lang="pt-PT" dirty="0"/>
          </a:p>
        </p:txBody>
      </p:sp>
      <p:cxnSp>
        <p:nvCxnSpPr>
          <p:cNvPr id="19" name="Conector reto 18">
            <a:extLst>
              <a:ext uri="{FF2B5EF4-FFF2-40B4-BE49-F238E27FC236}">
                <a16:creationId xmlns:a16="http://schemas.microsoft.com/office/drawing/2014/main" id="{0E93D895-4203-E605-1DCB-72087D5F8156}"/>
              </a:ext>
            </a:extLst>
          </p:cNvPr>
          <p:cNvCxnSpPr>
            <a:cxnSpLocks/>
          </p:cNvCxnSpPr>
          <p:nvPr/>
        </p:nvCxnSpPr>
        <p:spPr>
          <a:xfrm>
            <a:off x="7070131" y="2130552"/>
            <a:ext cx="0" cy="451713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Subtítulo 2">
            <a:extLst>
              <a:ext uri="{FF2B5EF4-FFF2-40B4-BE49-F238E27FC236}">
                <a16:creationId xmlns:a16="http://schemas.microsoft.com/office/drawing/2014/main" id="{39B0EE7A-8EEE-3C70-DDBA-0FF17B4F8628}"/>
              </a:ext>
            </a:extLst>
          </p:cNvPr>
          <p:cNvSpPr txBox="1">
            <a:spLocks/>
          </p:cNvSpPr>
          <p:nvPr/>
        </p:nvSpPr>
        <p:spPr>
          <a:xfrm>
            <a:off x="6096000" y="2591563"/>
            <a:ext cx="4672584" cy="320573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None/>
              <a:defRPr sz="1800" b="1" kern="1200" cap="all" spc="3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dirty="0"/>
          </a:p>
        </p:txBody>
      </p:sp>
      <p:sp>
        <p:nvSpPr>
          <p:cNvPr id="25" name="Subtítulo 2">
            <a:extLst>
              <a:ext uri="{FF2B5EF4-FFF2-40B4-BE49-F238E27FC236}">
                <a16:creationId xmlns:a16="http://schemas.microsoft.com/office/drawing/2014/main" id="{C6DF296D-5E16-891D-39C3-94AB178B4E9D}"/>
              </a:ext>
            </a:extLst>
          </p:cNvPr>
          <p:cNvSpPr txBox="1">
            <a:spLocks/>
          </p:cNvSpPr>
          <p:nvPr/>
        </p:nvSpPr>
        <p:spPr>
          <a:xfrm>
            <a:off x="395029" y="1711832"/>
            <a:ext cx="6526998" cy="226490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None/>
              <a:defRPr sz="1800" b="1" kern="1200" cap="all" spc="3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/>
              <a:t>Processamento batch (Lote)</a:t>
            </a:r>
          </a:p>
          <a:p>
            <a:pPr marL="800100" lvl="1" indent="-342900" algn="l">
              <a:buFont typeface="Courier New" panose="02070309020205020404" pitchFamily="49" charset="0"/>
              <a:buChar char="o"/>
            </a:pPr>
            <a:r>
              <a:rPr lang="pt-PT" sz="1300" dirty="0"/>
              <a:t>Apache Airflow</a:t>
            </a:r>
          </a:p>
          <a:p>
            <a:pPr marL="800100" lvl="1" indent="-342900" algn="l">
              <a:buFont typeface="Courier New" panose="02070309020205020404" pitchFamily="49" charset="0"/>
              <a:buChar char="o"/>
            </a:pPr>
            <a:r>
              <a:rPr lang="pt-PT" sz="1300" dirty="0"/>
              <a:t>Apache Spark</a:t>
            </a:r>
            <a:endParaRPr lang="pt-PT" dirty="0"/>
          </a:p>
          <a:p>
            <a:pPr marL="742950" lvl="1" indent="-285750" algn="l">
              <a:buFont typeface="Arial" panose="020B0604020202020204" pitchFamily="34" charset="0"/>
              <a:buChar char="•"/>
            </a:pPr>
            <a:endParaRPr lang="pt-PT" dirty="0"/>
          </a:p>
          <a:p>
            <a:pPr marL="742950" lvl="1" indent="-285750" algn="l">
              <a:buFont typeface="Arial" panose="020B0604020202020204" pitchFamily="34" charset="0"/>
              <a:buChar char="•"/>
            </a:pPr>
            <a:endParaRPr lang="pt-PT" dirty="0"/>
          </a:p>
          <a:p>
            <a:endParaRPr lang="pt-PT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BBCCE95F-DEA1-7C1C-5DE6-3EE072B297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4003530"/>
            <a:ext cx="4581524" cy="1942329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0E40D4A2-68C9-9F34-9E6D-DE6B9AFE05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90" y="3403880"/>
            <a:ext cx="6833438" cy="2541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693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E3759-BB3A-3F7E-3468-5FAEF11FE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DCB332-670C-E332-1D2D-AA8945DEE6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552451"/>
          </a:xfrm>
        </p:spPr>
        <p:txBody>
          <a:bodyPr>
            <a:normAutofit/>
          </a:bodyPr>
          <a:lstStyle/>
          <a:p>
            <a:r>
              <a:rPr lang="pt-PT" sz="2800" dirty="0"/>
              <a:t>Demonstração – Pipeline em 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A356A1B-E9BF-9F0A-E988-EDFD96B04B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2139697"/>
            <a:ext cx="11301984" cy="4215384"/>
          </a:xfrm>
        </p:spPr>
        <p:txBody>
          <a:bodyPr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PROCESSAMENTO: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t-BR" dirty="0" err="1"/>
              <a:t>DagS</a:t>
            </a:r>
            <a:r>
              <a:rPr lang="pt-BR" dirty="0"/>
              <a:t> do Airflow.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t-BR" dirty="0"/>
              <a:t>Processamento dos micro-lotes com Spark streaming.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ENTREGA DE DADOS: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t-BR" dirty="0"/>
              <a:t>Dashboards no metabase:</a:t>
            </a:r>
            <a:endParaRPr lang="pt-PT" dirty="0"/>
          </a:p>
          <a:p>
            <a:pPr marL="1657350" lvl="3" indent="-285750" algn="l">
              <a:buFont typeface="Arial" panose="020B0604020202020204" pitchFamily="34" charset="0"/>
              <a:buChar char="•"/>
            </a:pPr>
            <a:r>
              <a:rPr lang="pt-PT" dirty="0"/>
              <a:t>Near Real-Time.</a:t>
            </a:r>
          </a:p>
          <a:p>
            <a:pPr marL="1657350" lvl="3" indent="-285750" algn="l">
              <a:buFont typeface="Arial" panose="020B0604020202020204" pitchFamily="34" charset="0"/>
              <a:buChar char="•"/>
            </a:pPr>
            <a:r>
              <a:rPr lang="pt-PT" dirty="0"/>
              <a:t>Análise Histórica.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t-PT" dirty="0"/>
              <a:t>APIs no </a:t>
            </a:r>
            <a:r>
              <a:rPr lang="pt-PT" dirty="0" err="1"/>
              <a:t>Postman</a:t>
            </a:r>
            <a:r>
              <a:rPr lang="pt-PT" dirty="0"/>
              <a:t>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t-PT" dirty="0"/>
              <a:t>Acesso aos dados federados via Trino.</a:t>
            </a:r>
          </a:p>
        </p:txBody>
      </p:sp>
    </p:spTree>
    <p:extLst>
      <p:ext uri="{BB962C8B-B14F-4D97-AF65-F5344CB8AC3E}">
        <p14:creationId xmlns:p14="http://schemas.microsoft.com/office/powerpoint/2010/main" val="3960051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C3AEF-DE80-C15A-7296-A9C460D97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84CB44-F52E-2B83-E599-92EC4D8C72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552451"/>
          </a:xfrm>
        </p:spPr>
        <p:txBody>
          <a:bodyPr>
            <a:normAutofit/>
          </a:bodyPr>
          <a:lstStyle/>
          <a:p>
            <a:r>
              <a:rPr lang="pt-PT" sz="2800" dirty="0"/>
              <a:t>Conclusão e Próximos Passos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78F12B3-9065-B2EC-A2C5-64BC95007F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2404871"/>
            <a:ext cx="11301984" cy="4059937"/>
          </a:xfrm>
        </p:spPr>
        <p:txBody>
          <a:bodyPr anchor="t">
            <a:normAutofit fontScale="85000" lnSpcReduction="2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/>
              <a:t>O que foi entregue?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t-PT" b="1" dirty="0"/>
              <a:t>Uma plataforma de dados ponta-a-ponta.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t-PT" b="1" dirty="0"/>
              <a:t>Dashboards históricos (Batch) e operacionais (NRT) funcionais.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t-PT" b="1" dirty="0"/>
              <a:t>Uma "fonte da verdade" (Gold Lakehouse) confiável.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t-PT" b="1" dirty="0"/>
              <a:t>Dados acessíveis de diferentes formas: </a:t>
            </a:r>
            <a:r>
              <a:rPr lang="pt-PT" dirty="0"/>
              <a:t>Dashboards, API’s e via Trino.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/>
              <a:t>Próximos Passos: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t-PT" b="1" dirty="0"/>
              <a:t>Enriquecer a camada Gold: </a:t>
            </a:r>
            <a:r>
              <a:rPr lang="pt-PT" dirty="0"/>
              <a:t>novos KPIs e informações.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t-PT" b="1" dirty="0"/>
              <a:t>PoC para Cloud: </a:t>
            </a:r>
            <a:r>
              <a:rPr lang="pt-PT" dirty="0"/>
              <a:t>migração para AWS, </a:t>
            </a:r>
            <a:r>
              <a:rPr lang="pt-PT" dirty="0" err="1"/>
              <a:t>Azure</a:t>
            </a:r>
            <a:r>
              <a:rPr lang="pt-PT" dirty="0"/>
              <a:t> ou GCP.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t-PT" b="1" dirty="0"/>
              <a:t>Machine Learning: </a:t>
            </a:r>
            <a:r>
              <a:rPr lang="pt-PT" dirty="0"/>
              <a:t>Usar o histórico gerado de velocidade e posições para treinar modelos de previsão de chegada (ETA).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t-PT" b="1" dirty="0"/>
              <a:t>Novos Dashboards: </a:t>
            </a:r>
            <a:r>
              <a:rPr lang="pt-PT" dirty="0"/>
              <a:t>Análise de performance por concessionária, por período do dia, etc.</a:t>
            </a:r>
          </a:p>
        </p:txBody>
      </p:sp>
    </p:spTree>
    <p:extLst>
      <p:ext uri="{BB962C8B-B14F-4D97-AF65-F5344CB8AC3E}">
        <p14:creationId xmlns:p14="http://schemas.microsoft.com/office/powerpoint/2010/main" val="36867145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66FE3-A59A-6CD1-E378-2A9CFB9C1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B6C4F3-BF5E-7697-2F9C-6DB063D578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552451"/>
          </a:xfrm>
        </p:spPr>
        <p:txBody>
          <a:bodyPr>
            <a:normAutofit/>
          </a:bodyPr>
          <a:lstStyle/>
          <a:p>
            <a:r>
              <a:rPr lang="pt-PT" sz="2800" dirty="0"/>
              <a:t>Perguntas</a:t>
            </a:r>
          </a:p>
        </p:txBody>
      </p:sp>
      <p:pic>
        <p:nvPicPr>
          <p:cNvPr id="1028" name="Picture 4" descr="Ponto de interrogação - ícones de logotipo grátis">
            <a:extLst>
              <a:ext uri="{FF2B5EF4-FFF2-40B4-BE49-F238E27FC236}">
                <a16:creationId xmlns:a16="http://schemas.microsoft.com/office/drawing/2014/main" id="{E57EC2C1-BD48-8D2F-78FA-71D737066F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7212" y="2028826"/>
            <a:ext cx="3457575" cy="3457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6466802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938</TotalTime>
  <Words>606</Words>
  <Application>Microsoft Office PowerPoint</Application>
  <PresentationFormat>Widescreen</PresentationFormat>
  <Paragraphs>93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6" baseType="lpstr">
      <vt:lpstr>Arial</vt:lpstr>
      <vt:lpstr>Courier New</vt:lpstr>
      <vt:lpstr>Grandview Display</vt:lpstr>
      <vt:lpstr>DashVTI</vt:lpstr>
      <vt:lpstr>Monitoramento da Frota de Ônibus de SP</vt:lpstr>
      <vt:lpstr>Nossa Missão: Duas Visões, Uma Plataforma de Conteúdo</vt:lpstr>
      <vt:lpstr>Premissas Para a Proposta de Solução</vt:lpstr>
      <vt:lpstr>Objetivos do Projeto</vt:lpstr>
      <vt:lpstr>Objetivo 1 - Pipeline Streaming - NRT</vt:lpstr>
      <vt:lpstr>Objetivo 2 - Pipeline Batch</vt:lpstr>
      <vt:lpstr>Objetivo 3 - Arquitetura Unificada (Pipelines Batch e Streaming)</vt:lpstr>
      <vt:lpstr>Ferramentas e Tecnologias – Parte 1</vt:lpstr>
      <vt:lpstr>Ferramentas e Tecnologias – Parte 2</vt:lpstr>
      <vt:lpstr>Demonstração – Pipeline em Ação</vt:lpstr>
      <vt:lpstr>Conclusão e Próximos Passos</vt:lpstr>
      <vt:lpstr>Perguntas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Guilherme Palmeira</dc:creator>
  <cp:lastModifiedBy>Guilherme Palmeira</cp:lastModifiedBy>
  <cp:revision>42</cp:revision>
  <dcterms:created xsi:type="dcterms:W3CDTF">2025-10-27T16:34:08Z</dcterms:created>
  <dcterms:modified xsi:type="dcterms:W3CDTF">2025-11-03T16:43:20Z</dcterms:modified>
</cp:coreProperties>
</file>