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87" r:id="rId1"/>
  </p:sldMasterIdLst>
  <p:sldIdLst>
    <p:sldId id="256" r:id="rId2"/>
    <p:sldId id="257" r:id="rId3"/>
    <p:sldId id="267" r:id="rId4"/>
    <p:sldId id="258" r:id="rId5"/>
    <p:sldId id="266" r:id="rId6"/>
    <p:sldId id="260" r:id="rId7"/>
    <p:sldId id="259" r:id="rId8"/>
    <p:sldId id="264" r:id="rId9"/>
    <p:sldId id="265" r:id="rId10"/>
    <p:sldId id="261" r:id="rId11"/>
    <p:sldId id="262" r:id="rId12"/>
    <p:sldId id="263" r:id="rId13"/>
  </p:sldIdLst>
  <p:sldSz cx="12192000" cy="6858000"/>
  <p:notesSz cx="6858000" cy="9144000"/>
  <p:defaultTextStyle>
    <a:defPPr>
      <a:defRPr lang="pt-PT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4995" autoAdjust="0"/>
    <p:restoredTop sz="94660"/>
  </p:normalViewPr>
  <p:slideViewPr>
    <p:cSldViewPr snapToGrid="0">
      <p:cViewPr varScale="1">
        <p:scale>
          <a:sx n="100" d="100"/>
          <a:sy n="100" d="100"/>
        </p:scale>
        <p:origin x="96" y="186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slide" Target="slides/slide7.xml"/><Relationship Id="rId13" Type="http://schemas.openxmlformats.org/officeDocument/2006/relationships/slide" Target="slides/slide12.xml"/><Relationship Id="rId3" Type="http://schemas.openxmlformats.org/officeDocument/2006/relationships/slide" Target="slides/slide2.xml"/><Relationship Id="rId7" Type="http://schemas.openxmlformats.org/officeDocument/2006/relationships/slide" Target="slides/slide6.xml"/><Relationship Id="rId12" Type="http://schemas.openxmlformats.org/officeDocument/2006/relationships/slide" Target="slides/slide11.xml"/><Relationship Id="rId17" Type="http://schemas.openxmlformats.org/officeDocument/2006/relationships/tableStyles" Target="tableStyles.xml"/><Relationship Id="rId2" Type="http://schemas.openxmlformats.org/officeDocument/2006/relationships/slide" Target="slides/slide1.xml"/><Relationship Id="rId16" Type="http://schemas.openxmlformats.org/officeDocument/2006/relationships/theme" Target="theme/them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11" Type="http://schemas.openxmlformats.org/officeDocument/2006/relationships/slide" Target="slides/slide10.xml"/><Relationship Id="rId5" Type="http://schemas.openxmlformats.org/officeDocument/2006/relationships/slide" Target="slides/slide4.xml"/><Relationship Id="rId15" Type="http://schemas.openxmlformats.org/officeDocument/2006/relationships/viewProps" Target="viewProps.xml"/><Relationship Id="rId10" Type="http://schemas.openxmlformats.org/officeDocument/2006/relationships/slide" Target="slides/slide9.xml"/><Relationship Id="rId4" Type="http://schemas.openxmlformats.org/officeDocument/2006/relationships/slide" Target="slides/slide3.xml"/><Relationship Id="rId9" Type="http://schemas.openxmlformats.org/officeDocument/2006/relationships/slide" Target="slides/slide8.xml"/><Relationship Id="rId14" Type="http://schemas.openxmlformats.org/officeDocument/2006/relationships/presProps" Target="presProps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>
            <a:extLst>
              <a:ext uri="{FF2B5EF4-FFF2-40B4-BE49-F238E27FC236}">
                <a16:creationId xmlns:a16="http://schemas.microsoft.com/office/drawing/2014/main" id="{B345610A-17B4-4656-93CF-E1D9982860F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2951825"/>
          </a:xfrm>
        </p:spPr>
        <p:txBody>
          <a:bodyPr anchor="t">
            <a:normAutofit/>
          </a:bodyPr>
          <a:lstStyle>
            <a:lvl1pPr algn="l">
              <a:defRPr sz="5400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Subtitle 2">
            <a:extLst>
              <a:ext uri="{FF2B5EF4-FFF2-40B4-BE49-F238E27FC236}">
                <a16:creationId xmlns:a16="http://schemas.microsoft.com/office/drawing/2014/main" id="{A451C80B-DFD6-415B-BA5B-E56E510CD12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4584879"/>
            <a:ext cx="6675120" cy="1287887"/>
          </a:xfrm>
        </p:spPr>
        <p:txBody>
          <a:bodyPr anchor="b">
            <a:normAutofit/>
          </a:bodyPr>
          <a:lstStyle>
            <a:lvl1pPr marL="0" indent="0" algn="l">
              <a:lnSpc>
                <a:spcPct val="130000"/>
              </a:lnSpc>
              <a:buNone/>
              <a:defRPr sz="1800" b="1" cap="all" spc="300" baseline="0"/>
            </a:lvl1pPr>
            <a:lvl2pPr marL="457200" indent="0" algn="ctr">
              <a:buNone/>
              <a:defRPr sz="2000"/>
            </a:lvl2pPr>
            <a:lvl3pPr marL="914400" indent="0" algn="ctr">
              <a:buNone/>
              <a:defRPr sz="1800"/>
            </a:lvl3pPr>
            <a:lvl4pPr marL="1371600" indent="0" algn="ctr">
              <a:buNone/>
              <a:defRPr sz="1600"/>
            </a:lvl4pPr>
            <a:lvl5pPr marL="1828800" indent="0" algn="ctr">
              <a:buNone/>
              <a:defRPr sz="1600"/>
            </a:lvl5pPr>
            <a:lvl6pPr marL="2286000" indent="0" algn="ctr">
              <a:buNone/>
              <a:defRPr sz="1600"/>
            </a:lvl6pPr>
            <a:lvl7pPr marL="2743200" indent="0" algn="ctr">
              <a:buNone/>
              <a:defRPr sz="1600"/>
            </a:lvl7pPr>
            <a:lvl8pPr marL="3200400" indent="0" algn="ctr">
              <a:buNone/>
              <a:defRPr sz="1600"/>
            </a:lvl8pPr>
            <a:lvl9pPr marL="3657600" indent="0" algn="ctr">
              <a:buNone/>
              <a:defRPr sz="1600"/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67A2065B-06FF-4991-9F8A-4BE25457B479}"/>
              </a:ext>
            </a:extLst>
          </p:cNvPr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6444479B-705B-4489-957E-7E8A228BDFA0}" type="datetime1">
              <a:rPr lang="en-US" smtClean="0"/>
              <a:t>10/29/2025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20DF2FA-C604-45D8-A633-11D3742EC141}"/>
              </a:ext>
            </a:extLst>
          </p:cNvPr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02EE5DA9-2D04-4850-AB9F-BD353816504A}"/>
              </a:ext>
            </a:extLst>
          </p:cNvPr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5914877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2" Type="http://schemas.openxmlformats.org/officeDocument/2006/relationships/theme" Target="../theme/theme1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>
            <a:extLst>
              <a:ext uri="{FF2B5EF4-FFF2-40B4-BE49-F238E27FC236}">
                <a16:creationId xmlns:a16="http://schemas.microsoft.com/office/drawing/2014/main" id="{1AB4E786-7636-4278-8595-D365D28A796A}"/>
              </a:ext>
            </a:extLst>
          </p:cNvPr>
          <p:cNvSpPr>
            <a:spLocks noGrp="1"/>
          </p:cNvSpPr>
          <p:nvPr>
            <p:ph type="title"/>
          </p:nvPr>
        </p:nvSpPr>
        <p:spPr>
          <a:xfrm>
            <a:off x="640079" y="1371601"/>
            <a:ext cx="10890929" cy="1097280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>
            <a:extLst>
              <a:ext uri="{FF2B5EF4-FFF2-40B4-BE49-F238E27FC236}">
                <a16:creationId xmlns:a16="http://schemas.microsoft.com/office/drawing/2014/main" id="{EA740849-7059-4C70-992B-5304D2EE9BAB}"/>
              </a:ext>
            </a:extLst>
          </p:cNvPr>
          <p:cNvSpPr>
            <a:spLocks noGrp="1"/>
          </p:cNvSpPr>
          <p:nvPr>
            <p:ph type="body" idx="1"/>
          </p:nvPr>
        </p:nvSpPr>
        <p:spPr>
          <a:xfrm>
            <a:off x="640080" y="2633472"/>
            <a:ext cx="10890928" cy="356616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>
            <a:extLst>
              <a:ext uri="{FF2B5EF4-FFF2-40B4-BE49-F238E27FC236}">
                <a16:creationId xmlns:a16="http://schemas.microsoft.com/office/drawing/2014/main" id="{D09FEBF6-CEA6-4332-87B3-697807571C84}"/>
              </a:ext>
            </a:extLst>
          </p:cNvPr>
          <p:cNvSpPr>
            <a:spLocks noGrp="1"/>
          </p:cNvSpPr>
          <p:nvPr>
            <p:ph type="dt" sz="half" idx="2"/>
          </p:nvPr>
        </p:nvSpPr>
        <p:spPr>
          <a:xfrm>
            <a:off x="640080" y="6356350"/>
            <a:ext cx="27432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DA38F49-B3E2-4BF0-BEC7-C30D34ABBB8D}" type="datetime1">
              <a:rPr lang="en-US" smtClean="0"/>
              <a:t>10/29/2025</a:t>
            </a:fld>
            <a:endParaRPr lang="en-US"/>
          </a:p>
        </p:txBody>
      </p:sp>
      <p:sp>
        <p:nvSpPr>
          <p:cNvPr id="5" name="Footer Placeholder 4">
            <a:extLst>
              <a:ext uri="{FF2B5EF4-FFF2-40B4-BE49-F238E27FC236}">
                <a16:creationId xmlns:a16="http://schemas.microsoft.com/office/drawing/2014/main" id="{BC6BAF94-621C-43E1-BA0C-410A6899031B}"/>
              </a:ext>
            </a:extLst>
          </p:cNvPr>
          <p:cNvSpPr>
            <a:spLocks noGrp="1"/>
          </p:cNvSpPr>
          <p:nvPr>
            <p:ph type="ftr" sz="quarter" idx="3"/>
          </p:nvPr>
        </p:nvSpPr>
        <p:spPr>
          <a:xfrm>
            <a:off x="6767622" y="6356350"/>
            <a:ext cx="4040373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>
            <a:extLst>
              <a:ext uri="{FF2B5EF4-FFF2-40B4-BE49-F238E27FC236}">
                <a16:creationId xmlns:a16="http://schemas.microsoft.com/office/drawing/2014/main" id="{137D19E5-9E16-48C9-AAE2-0C70679A8D7B}"/>
              </a:ext>
            </a:extLst>
          </p:cNvPr>
          <p:cNvSpPr>
            <a:spLocks noGrp="1"/>
          </p:cNvSpPr>
          <p:nvPr>
            <p:ph type="sldNum" sz="quarter" idx="4"/>
          </p:nvPr>
        </p:nvSpPr>
        <p:spPr>
          <a:xfrm>
            <a:off x="10807995" y="6356350"/>
            <a:ext cx="723014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900" b="1" cap="all" spc="300" baseline="0">
                <a:solidFill>
                  <a:schemeClr val="tx1"/>
                </a:solidFill>
              </a:defRPr>
            </a:lvl1pPr>
          </a:lstStyle>
          <a:p>
            <a:fld id="{70C12960-6E85-460F-B6E3-5B82CB31AF3D}" type="slidenum">
              <a:rPr lang="en-US" smtClean="0"/>
              <a:t>‹nº›</a:t>
            </a:fld>
            <a:endParaRPr lang="en-US"/>
          </a:p>
        </p:txBody>
      </p:sp>
      <p:cxnSp>
        <p:nvCxnSpPr>
          <p:cNvPr id="9" name="Straight Connector 8">
            <a:extLst>
              <a:ext uri="{FF2B5EF4-FFF2-40B4-BE49-F238E27FC236}">
                <a16:creationId xmlns:a16="http://schemas.microsoft.com/office/drawing/2014/main" id="{118E06E4-607B-144B-382B-AD3D06B1EE8C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/>
          </p:cNvCxnSpPr>
          <p:nvPr/>
        </p:nvCxnSpPr>
        <p:spPr>
          <a:xfrm>
            <a:off x="713232" y="1031001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064353798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86" r:id="rId1"/>
  </p:sldLayoutIdLst>
  <p:hf sldNum="0" hdr="0" ftr="0" dt="0"/>
  <p:txStyles>
    <p:titleStyle>
      <a:lvl1pPr algn="l" defTabSz="914400" rtl="0" eaLnBrk="1" latinLnBrk="0" hangingPunct="1">
        <a:lnSpc>
          <a:spcPct val="100000"/>
        </a:lnSpc>
        <a:spcBef>
          <a:spcPct val="0"/>
        </a:spcBef>
        <a:buNone/>
        <a:defRPr sz="4000" b="1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228600" indent="-228600" algn="l" defTabSz="914400" rtl="0" eaLnBrk="1" latinLnBrk="0" hangingPunct="1">
        <a:lnSpc>
          <a:spcPct val="120000"/>
        </a:lnSpc>
        <a:spcBef>
          <a:spcPts val="1000"/>
        </a:spcBef>
        <a:buSzPct val="87000"/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1pPr>
      <a:lvl2pPr marL="493776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731520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600" kern="1200">
          <a:solidFill>
            <a:schemeClr val="tx1"/>
          </a:solidFill>
          <a:latin typeface="+mn-lt"/>
          <a:ea typeface="+mn-ea"/>
          <a:cs typeface="+mn-cs"/>
        </a:defRPr>
      </a:lvl3pPr>
      <a:lvl4pPr marL="1051560" indent="-28575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4pPr>
      <a:lvl5pPr marL="1298448" indent="-228600" algn="l" defTabSz="914400" rtl="0" eaLnBrk="1" latinLnBrk="0" hangingPunct="1">
        <a:lnSpc>
          <a:spcPct val="120000"/>
        </a:lnSpc>
        <a:spcBef>
          <a:spcPts val="500"/>
        </a:spcBef>
        <a:buSzPct val="87000"/>
        <a:buFont typeface="Arial" panose="020B0604020202020204" pitchFamily="34" charset="0"/>
        <a:buChar char="•"/>
        <a:defRPr sz="14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lnSpc>
          <a:spcPct val="90000"/>
        </a:lnSpc>
        <a:spcBef>
          <a:spcPts val="500"/>
        </a:spcBef>
        <a:buFont typeface="Arial" panose="020B0604020202020204" pitchFamily="34" charset="0"/>
        <a:buChar char="•"/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jpe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5.xml.rels><?xml version="1.0" encoding="UTF-8" standalone="yes"?>
<Relationships xmlns="http://schemas.openxmlformats.org/package/2006/relationships"><Relationship Id="rId2" Type="http://schemas.openxmlformats.org/officeDocument/2006/relationships/image" Target="../media/image2.png"/><Relationship Id="rId1" Type="http://schemas.openxmlformats.org/officeDocument/2006/relationships/slideLayout" Target="../slideLayouts/slideLayout1.xml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png"/><Relationship Id="rId1" Type="http://schemas.openxmlformats.org/officeDocument/2006/relationships/slideLayout" Target="../slideLayouts/slideLayout1.xml"/></Relationships>
</file>

<file path=ppt/slides/_rels/slide7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1.xml"/></Relationships>
</file>

<file path=ppt/slides/_rels/slide8.xml.rels><?xml version="1.0" encoding="UTF-8" standalone="yes"?>
<Relationships xmlns="http://schemas.openxmlformats.org/package/2006/relationships"><Relationship Id="rId3" Type="http://schemas.openxmlformats.org/officeDocument/2006/relationships/image" Target="../media/image6.png"/><Relationship Id="rId2" Type="http://schemas.openxmlformats.org/officeDocument/2006/relationships/image" Target="../media/image5.png"/><Relationship Id="rId1" Type="http://schemas.openxmlformats.org/officeDocument/2006/relationships/slideLayout" Target="../slideLayouts/slideLayout1.xml"/></Relationships>
</file>

<file path=ppt/slides/_rels/slide9.xml.rels><?xml version="1.0" encoding="UTF-8" standalone="yes"?>
<Relationships xmlns="http://schemas.openxmlformats.org/package/2006/relationships"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slideLayout" Target="../slideLayouts/slideLayout1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image" Target="../media/image9.png"/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bg>
      <p:bgPr>
        <a:solidFill>
          <a:schemeClr val="bg1"/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 useBgFill="1">
        <p:nvSpPr>
          <p:cNvPr id="2063" name="Rectangle 2062">
            <a:extLst>
              <a:ext uri="{FF2B5EF4-FFF2-40B4-BE49-F238E27FC236}">
                <a16:creationId xmlns:a16="http://schemas.microsoft.com/office/drawing/2014/main" id="{19F9BF86-FE94-4517-B97D-026C7515E589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SpPr>
            <a:spLocks noGrp="1" noRot="1" noChangeAspect="1" noMove="1" noResize="1" noEditPoints="1" noAdjustHandles="1" noChangeArrowheads="1" noChangeShapeType="1" noTextEdit="1"/>
          </p:cNv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SpPr>
        <p:spPr>
          <a:xfrm>
            <a:off x="0" y="0"/>
            <a:ext cx="12192000" cy="6858000"/>
          </a:xfrm>
          <a:prstGeom prst="rect">
            <a:avLst/>
          </a:prstGeom>
          <a:ln w="12700" cap="flat" cmpd="sng" algn="ctr">
            <a:noFill/>
            <a:prstDash val="solid"/>
            <a:miter lim="800000"/>
          </a:ln>
          <a:effectLst/>
          <a:extLst>
            <a:ext uri="{91240B29-F687-4F45-9708-019B960494DF}">
              <a14:hiddenLine xmlns:a14="http://schemas.microsoft.com/office/drawing/2010/main" w="12700" cap="flat" cmpd="sng" algn="ctr">
                <a:solidFill>
                  <a:schemeClr val="accent1">
                    <a:shade val="50000"/>
                  </a:schemeClr>
                </a:solidFill>
                <a:prstDash val="solid"/>
                <a:miter lim="800000"/>
              </a14:hiddenLine>
            </a:ext>
          </a:extLst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en-US"/>
          </a:p>
        </p:txBody>
      </p:sp>
      <p:sp>
        <p:nvSpPr>
          <p:cNvPr id="2" name="Título 1">
            <a:extLst>
              <a:ext uri="{FF2B5EF4-FFF2-40B4-BE49-F238E27FC236}">
                <a16:creationId xmlns:a16="http://schemas.microsoft.com/office/drawing/2014/main" id="{398D27E5-A753-C962-CD54-9BBA1CFAA0D3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7537528" y="1032764"/>
            <a:ext cx="4308672" cy="3224045"/>
          </a:xfrm>
        </p:spPr>
        <p:txBody>
          <a:bodyPr anchor="b">
            <a:normAutofit/>
          </a:bodyPr>
          <a:lstStyle/>
          <a:p>
            <a:pPr>
              <a:lnSpc>
                <a:spcPct val="90000"/>
              </a:lnSpc>
            </a:pPr>
            <a:r>
              <a:rPr lang="pt-BR" sz="4900"/>
              <a:t>Monitoramento da Frota de Ônibus de SP</a:t>
            </a:r>
            <a:endParaRPr lang="pt-PT" sz="4900"/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CA9B6A44-653B-B8EA-9B32-1BB10FCB13F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537528" y="5289573"/>
            <a:ext cx="4308672" cy="935419"/>
          </a:xfrm>
        </p:spPr>
        <p:txBody>
          <a:bodyPr anchor="t">
            <a:normAutofit/>
          </a:bodyPr>
          <a:lstStyle/>
          <a:p>
            <a:pPr>
              <a:lnSpc>
                <a:spcPct val="120000"/>
              </a:lnSpc>
            </a:pPr>
            <a:r>
              <a:rPr lang="pt-BR" sz="1500" dirty="0"/>
              <a:t>Uma arquitetura para Análise histórica e Operacional da frota da SPTrans</a:t>
            </a:r>
            <a:endParaRPr lang="pt-PT" sz="1500" dirty="0"/>
          </a:p>
        </p:txBody>
      </p:sp>
      <p:pic>
        <p:nvPicPr>
          <p:cNvPr id="2059" name="Picture 2058" descr="Ônibus em movimento">
            <a:extLst>
              <a:ext uri="{FF2B5EF4-FFF2-40B4-BE49-F238E27FC236}">
                <a16:creationId xmlns:a16="http://schemas.microsoft.com/office/drawing/2014/main" id="{6E65909B-7F74-F431-EB8A-58E9A5792C1D}"/>
              </a:ext>
            </a:extLst>
          </p:cNvPr>
          <p:cNvPicPr>
            <a:picLocks noChangeAspect="1"/>
          </p:cNvPicPr>
          <p:nvPr/>
        </p:nvPicPr>
        <p:blipFill>
          <a:blip r:embed="rId2"/>
          <a:srcRect l="29844" r="2693" b="-1"/>
          <a:stretch>
            <a:fillRect/>
          </a:stretch>
        </p:blipFill>
        <p:spPr>
          <a:xfrm>
            <a:off x="20" y="10"/>
            <a:ext cx="6931132" cy="6857990"/>
          </a:xfrm>
          <a:prstGeom prst="rect">
            <a:avLst/>
          </a:prstGeom>
        </p:spPr>
      </p:pic>
      <p:cxnSp>
        <p:nvCxnSpPr>
          <p:cNvPr id="2065" name="Straight Connector 2064">
            <a:extLst>
              <a:ext uri="{FF2B5EF4-FFF2-40B4-BE49-F238E27FC236}">
                <a16:creationId xmlns:a16="http://schemas.microsoft.com/office/drawing/2014/main" id="{6CA391F1-4B2C-521B-F6A5-52C74B30349D}"/>
              </a:ext>
              <a:ext uri="{C183D7F6-B498-43B3-948B-1728B52AA6E4}">
                <adec:decorative xmlns:adec="http://schemas.microsoft.com/office/drawing/2017/decorative" val="1"/>
              </a:ext>
            </a:extLst>
          </p:cNvPr>
          <p:cNvCxnSpPr>
            <a:cxnSpLocks noGrp="1" noRot="1" noChangeAspect="1" noMove="1" noResize="1" noEditPoints="1" noAdjustHandles="1" noChangeArrowheads="1" noChangeShapeType="1"/>
          </p:cNvCxnSpPr>
          <p:nvPr>
            <p:extLst>
              <p:ext uri="{386F3935-93C4-4BCD-93E2-E3B085C9AB24}">
                <p16:designElem xmlns:p16="http://schemas.microsoft.com/office/powerpoint/2015/main" val="1"/>
              </p:ext>
            </p:extLst>
          </p:nvPr>
        </p:nvCxnSpPr>
        <p:spPr>
          <a:xfrm>
            <a:off x="7675848" y="4711579"/>
            <a:ext cx="978862" cy="0"/>
          </a:xfrm>
          <a:prstGeom prst="line">
            <a:avLst/>
          </a:prstGeom>
          <a:ln w="76200"/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</p:spTree>
    <p:extLst>
      <p:ext uri="{BB962C8B-B14F-4D97-AF65-F5344CB8AC3E}">
        <p14:creationId xmlns:p14="http://schemas.microsoft.com/office/powerpoint/2010/main" val="46262623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  <p:cond evt="onBegin" delay="0">
                          <p:tn val="2"/>
                        </p:cond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0" presetClass="entr" presetSubtype="0" fill="hold" grpId="0" nodeType="withEffect">
                                  <p:stCondLst>
                                    <p:cond delay="10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7" dur="700"/>
                                        <p:tgtEl>
                                          <p:spTgt spid="2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  <p:par>
                                <p:cTn id="8" presetID="10" presetClass="entr" presetSubtype="0" fill="hold" grpId="0" nodeType="withEffect">
                                  <p:stCondLst>
                                    <p:cond delay="1500"/>
                                  </p:stCondLst>
                                  <p:iterate>
                                    <p:tmPct val="10000"/>
                                  </p:iterate>
                                  <p:childTnLst>
                                    <p:set>
                                      <p:cBhvr>
                                        <p:cTn id="9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transition="in" filter="fade">
                                      <p:cBhvr>
                                        <p:cTn id="10" dur="700"/>
                                        <p:tgtEl>
                                          <p:spTgt spid="3">
                                            <p:txEl>
                                              <p:pRg st="0" end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2" grpId="0"/>
      <p:bldP spid="3" grpId="0" build="p"/>
    </p:bld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D74FD8E-A1DC-38AF-0995-46BD7FE7C8B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10671048" cy="552451"/>
          </a:xfrm>
        </p:spPr>
        <p:txBody>
          <a:bodyPr>
            <a:normAutofit/>
          </a:bodyPr>
          <a:lstStyle/>
          <a:p>
            <a:r>
              <a:rPr lang="pt-PT" sz="2800" dirty="0"/>
              <a:t>Nossa Missão: Duas Visões, Uma Plataforma de Conteúdo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D0C4E4CB-14BB-7A33-633C-C816F8C76F55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2103121"/>
            <a:ext cx="11301984" cy="4361688"/>
          </a:xfrm>
        </p:spPr>
        <p:txBody>
          <a:bodyPr anchor="t">
            <a:normAutofit fontScale="70000" lnSpcReduction="2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A SPTrans gera milhões de pontos de dados de geolocalização todos os dias.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P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Esses dados são de natureza transitória (efêmeros) e massivos (crescem rapidamente).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P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Perguntas de Negócio, sem Resposta Fácil: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pt-PT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dirty="0">
                <a:solidFill>
                  <a:srgbClr val="0070C0"/>
                </a:solidFill>
              </a:rPr>
              <a:t>Visão NRT (Near Real-Time): </a:t>
            </a:r>
          </a:p>
          <a:p>
            <a:pPr marL="1200150" lvl="2" indent="-285750" algn="l">
              <a:buFont typeface="Arial" panose="020B0604020202020204" pitchFamily="34" charset="0"/>
              <a:buChar char="•"/>
            </a:pPr>
            <a:r>
              <a:rPr lang="pt-PT" dirty="0">
                <a:solidFill>
                  <a:srgbClr val="0070C0"/>
                </a:solidFill>
              </a:rPr>
              <a:t>Quantos ônibus estão em congestionamento agora?</a:t>
            </a:r>
          </a:p>
          <a:p>
            <a:pPr marL="1200150" lvl="2" indent="-285750" algn="l">
              <a:buFont typeface="Arial" panose="020B0604020202020204" pitchFamily="34" charset="0"/>
              <a:buChar char="•"/>
            </a:pPr>
            <a:r>
              <a:rPr lang="pt-PT" dirty="0">
                <a:solidFill>
                  <a:srgbClr val="0070C0"/>
                </a:solidFill>
              </a:rPr>
              <a:t>Quais são as linhas mais lentas? </a:t>
            </a:r>
          </a:p>
          <a:p>
            <a:pPr marL="1200150" lvl="2" indent="-285750" algn="l">
              <a:buFont typeface="Arial" panose="020B0604020202020204" pitchFamily="34" charset="0"/>
              <a:buChar char="•"/>
            </a:pPr>
            <a:r>
              <a:rPr lang="pt-PT" dirty="0">
                <a:solidFill>
                  <a:srgbClr val="0070C0"/>
                </a:solidFill>
              </a:rPr>
              <a:t>Quais linhas estão enfrentando congestionamento agora?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pt-PT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dirty="0">
                <a:solidFill>
                  <a:srgbClr val="0070C0"/>
                </a:solidFill>
              </a:rPr>
              <a:t>Visão Histórica (Batch): </a:t>
            </a:r>
          </a:p>
          <a:p>
            <a:pPr marL="1200150" lvl="2" indent="-285750" algn="l">
              <a:buFont typeface="Arial" panose="020B0604020202020204" pitchFamily="34" charset="0"/>
              <a:buChar char="•"/>
            </a:pPr>
            <a:r>
              <a:rPr lang="pt-PT" dirty="0">
                <a:solidFill>
                  <a:srgbClr val="0070C0"/>
                </a:solidFill>
              </a:rPr>
              <a:t>Qual foi o pico de ônibus em operação no período da manhã?</a:t>
            </a:r>
          </a:p>
          <a:p>
            <a:pPr marL="1200150" lvl="2" indent="-285750" algn="l">
              <a:buFont typeface="Arial" panose="020B0604020202020204" pitchFamily="34" charset="0"/>
              <a:buChar char="•"/>
            </a:pPr>
            <a:r>
              <a:rPr lang="pt-PT" dirty="0">
                <a:solidFill>
                  <a:srgbClr val="0070C0"/>
                </a:solidFill>
              </a:rPr>
              <a:t>Qual o percentual da frota congestionada nas últimas horas?</a:t>
            </a:r>
          </a:p>
        </p:txBody>
      </p:sp>
    </p:spTree>
    <p:extLst>
      <p:ext uri="{BB962C8B-B14F-4D97-AF65-F5344CB8AC3E}">
        <p14:creationId xmlns:p14="http://schemas.microsoft.com/office/powerpoint/2010/main" val="569064802"/>
      </p:ext>
    </p:extLst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010930CE-7239-F738-1C85-B22F7CDE55F5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C7F89B4-A10D-5C18-2A9E-6A55461087F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552451"/>
          </a:xfrm>
        </p:spPr>
        <p:txBody>
          <a:bodyPr>
            <a:normAutofit/>
          </a:bodyPr>
          <a:lstStyle/>
          <a:p>
            <a:r>
              <a:rPr lang="pt-PT" sz="2800" dirty="0"/>
              <a:t>Premissas Para a Proposta de Solução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EDCFE901-0115-CF62-EDA0-06B8F86A59E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2679191"/>
            <a:ext cx="11301984" cy="3026665"/>
          </a:xfrm>
        </p:spPr>
        <p:txBody>
          <a:bodyPr anchor="t">
            <a:normAutofit lnSpcReduction="1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sz="1600" dirty="0"/>
              <a:t>Utilizar tecnologias aprendidas no curso – stack moderna e open-</a:t>
            </a:r>
            <a:r>
              <a:rPr lang="pt-PT" sz="1600" dirty="0" err="1"/>
              <a:t>source</a:t>
            </a:r>
            <a:r>
              <a:rPr lang="pt-PT" sz="1600" dirty="0"/>
              <a:t>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PT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sz="1600" dirty="0"/>
              <a:t>Infraestrutura portátil e reprodutível – Docker.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PT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sz="1600" dirty="0"/>
              <a:t>Qualidade de dados via a Arquitetura medalhão.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PT" sz="1600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sz="1600" dirty="0"/>
              <a:t>Disponibilizar os dados através de múltiplos canais de consumo.</a:t>
            </a:r>
          </a:p>
        </p:txBody>
      </p:sp>
    </p:spTree>
    <p:extLst>
      <p:ext uri="{BB962C8B-B14F-4D97-AF65-F5344CB8AC3E}">
        <p14:creationId xmlns:p14="http://schemas.microsoft.com/office/powerpoint/2010/main" val="32341406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D8BA0832-7EBC-810C-ACFC-D0C21B15322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DFD9F741-43C3-DA5A-E85A-A208BCCBE0AA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552451"/>
          </a:xfrm>
        </p:spPr>
        <p:txBody>
          <a:bodyPr>
            <a:normAutofit/>
          </a:bodyPr>
          <a:lstStyle/>
          <a:p>
            <a:r>
              <a:rPr lang="pt-PT" sz="2800" dirty="0"/>
              <a:t>Objetivos do Projeto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54782399-349F-9A8F-57E0-E0767C8B55E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2404871"/>
            <a:ext cx="11301984" cy="4059937"/>
          </a:xfrm>
        </p:spPr>
        <p:txBody>
          <a:bodyPr anchor="t">
            <a:normAutofit fontScale="85000" lnSpcReduction="1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Objetivo 1: Visão Operacional (Pipeline Streaming - NRT)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dirty="0"/>
              <a:t>Fornecer um "raio-x" da operação da frota com baixa latência (Near Real-Time).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dirty="0"/>
              <a:t>KPIs-chave: Velocidade média por linha, contagem de ônibus parados/congestionados.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P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Objetivo 2: Visão Estratégica (Pipeline Batch)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dirty="0"/>
              <a:t>Analisar tendências e performance histórica.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dirty="0"/>
              <a:t>KPIs-chave: Contagem de frota única em operação por hora e análise de velocidade média histórica.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P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Objetivo 3: Arquitetura Unificada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dirty="0"/>
              <a:t>Construir uma Arquitetura Medalhão, Híbrida Batch/Streaming - NRT que suporte ambas visões.</a:t>
            </a:r>
          </a:p>
        </p:txBody>
      </p:sp>
    </p:spTree>
    <p:extLst>
      <p:ext uri="{BB962C8B-B14F-4D97-AF65-F5344CB8AC3E}">
        <p14:creationId xmlns:p14="http://schemas.microsoft.com/office/powerpoint/2010/main" val="3121728925"/>
      </p:ext>
    </p:extLst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236063DD-6F4D-3050-38AF-D7F80035F7FC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312C37C2-1C77-8746-6A67-36A76A90D898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552451"/>
          </a:xfrm>
        </p:spPr>
        <p:txBody>
          <a:bodyPr>
            <a:normAutofit/>
          </a:bodyPr>
          <a:lstStyle/>
          <a:p>
            <a:r>
              <a:rPr lang="pt-PT" sz="2800" dirty="0"/>
              <a:t>Objetivo 1 - Pipeline Streaming - NRT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1BF71976-B0C7-1CF3-CB9D-3C6C56AB1923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5205046"/>
            <a:ext cx="11402568" cy="1259762"/>
          </a:xfrm>
        </p:spPr>
        <p:txBody>
          <a:bodyPr anchor="t">
            <a:normAutofit fontScale="70000" lnSpcReduction="2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Worker 1 - Coleta e limpeza (kafka -&gt; silver), particionado por ano/mês/dia/hora na camada silver.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Worker 2 - Cálculo de kpis e entrega de dados (silver -&gt; postgresql + Silver).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>
                <a:solidFill>
                  <a:srgbClr val="0070C0"/>
                </a:solidFill>
              </a:rPr>
              <a:t>Resultado: dados para os dashboards nrt atualizados a cada 4 minutos.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PT" dirty="0"/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ED10CDF2-7D98-394C-E50D-3671C3F82619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09612" y="2040591"/>
            <a:ext cx="10772775" cy="2776817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4289548804"/>
      </p:ext>
    </p:extLst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8E1628-84DB-0C79-C56E-4C057C54D40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9998F3C-5D5C-9F29-EE6E-9C1CDE15817E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552451"/>
          </a:xfrm>
        </p:spPr>
        <p:txBody>
          <a:bodyPr>
            <a:normAutofit/>
          </a:bodyPr>
          <a:lstStyle/>
          <a:p>
            <a:r>
              <a:rPr lang="pt-PT" sz="2800" dirty="0"/>
              <a:t>Objetivo 2 - Pipeline Batch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47F6C3E8-075B-51FF-7A3D-0EEAD5CCAF0B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720768" y="4769358"/>
            <a:ext cx="11301984" cy="1924049"/>
          </a:xfrm>
        </p:spPr>
        <p:txBody>
          <a:bodyPr anchor="t">
            <a:no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sz="1300" dirty="0"/>
              <a:t>Dag 1 - Coleta e limpeza (Bronze -&gt; Silver), particionado por ano/mês/dia na camada silver.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sz="1300" dirty="0"/>
              <a:t>Dag 2 - Agregação e consolidação dos kpis (Silver -&gt; Gold/</a:t>
            </a:r>
            <a:r>
              <a:rPr lang="pt-PT" sz="1300" dirty="0" err="1"/>
              <a:t>lakehouse</a:t>
            </a:r>
            <a:r>
              <a:rPr lang="pt-PT" sz="1300" dirty="0"/>
              <a:t>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sz="1300" dirty="0"/>
              <a:t>Dag 2 - entrega de dados (Gold/</a:t>
            </a:r>
            <a:r>
              <a:rPr lang="pt-PT" sz="1300" dirty="0" err="1"/>
              <a:t>lakehouse</a:t>
            </a:r>
            <a:r>
              <a:rPr lang="pt-PT" sz="1300" dirty="0"/>
              <a:t> -&gt; postgresql).</a:t>
            </a:r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sz="1300" dirty="0">
                <a:solidFill>
                  <a:srgbClr val="0070C0"/>
                </a:solidFill>
              </a:rPr>
              <a:t>Resultado: dados para os dashboards históricos consolidados e atualizados a cada hora.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7948F782-D800-48D5-F0FD-3BD062E2610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823912" y="1924050"/>
            <a:ext cx="10544176" cy="277883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616817245"/>
      </p:ext>
    </p:extLst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95095784-CEAE-21E1-FE32-F0D897E98476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41D5FB15-70A9-8770-E741-85A838FD38FF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9628632" cy="552451"/>
          </a:xfrm>
        </p:spPr>
        <p:txBody>
          <a:bodyPr>
            <a:normAutofit fontScale="90000"/>
          </a:bodyPr>
          <a:lstStyle/>
          <a:p>
            <a:r>
              <a:rPr lang="pt-PT" sz="2800" dirty="0"/>
              <a:t>Objetivo 3 - Arquitetura Unificada (Pipelines Batch e Streaming)</a:t>
            </a:r>
          </a:p>
        </p:txBody>
      </p:sp>
      <p:pic>
        <p:nvPicPr>
          <p:cNvPr id="5" name="Imagem 4">
            <a:extLst>
              <a:ext uri="{FF2B5EF4-FFF2-40B4-BE49-F238E27FC236}">
                <a16:creationId xmlns:a16="http://schemas.microsoft.com/office/drawing/2014/main" id="{8DEE3A27-1048-ADCF-2688-0AC21F039B4B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622522" y="2085975"/>
            <a:ext cx="10946955" cy="4171950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2657908570"/>
      </p:ext>
    </p:extLst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B21CC7C6-B961-BF6B-2C4A-FE98828E445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17108919-8567-9633-A936-4560E56EEE2D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552451"/>
          </a:xfrm>
        </p:spPr>
        <p:txBody>
          <a:bodyPr>
            <a:normAutofit/>
          </a:bodyPr>
          <a:lstStyle/>
          <a:p>
            <a:r>
              <a:rPr lang="pt-BR" sz="2800" dirty="0"/>
              <a:t>Ferramentas e T</a:t>
            </a:r>
            <a:r>
              <a:rPr lang="pt-PT" sz="2800" dirty="0"/>
              <a:t>ecnologias – Parte 1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268B7BC3-20A5-BFB4-CD3E-C5AB1FFD6986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1709928"/>
            <a:ext cx="4672584" cy="1572769"/>
          </a:xfrm>
        </p:spPr>
        <p:txBody>
          <a:bodyPr anchor="t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endParaRPr lang="pt-P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Ingestão de dados</a:t>
            </a:r>
          </a:p>
          <a:p>
            <a:pPr marL="742950" lvl="1" indent="-285750" algn="l">
              <a:buFont typeface="Courier New" panose="02070309020205020404" pitchFamily="49" charset="0"/>
              <a:buChar char="o"/>
            </a:pPr>
            <a:r>
              <a:rPr lang="pt-PT" sz="1300" dirty="0"/>
              <a:t>Apache </a:t>
            </a:r>
            <a:r>
              <a:rPr lang="pt-PT" sz="1300" dirty="0" err="1"/>
              <a:t>Nifi</a:t>
            </a:r>
            <a:endParaRPr lang="pt-PT" sz="1300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pt-PT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pt-PT" dirty="0"/>
          </a:p>
          <a:p>
            <a:endParaRPr lang="pt-PT" dirty="0"/>
          </a:p>
        </p:txBody>
      </p:sp>
      <p:cxnSp>
        <p:nvCxnSpPr>
          <p:cNvPr id="16" name="Conector reto 15">
            <a:extLst>
              <a:ext uri="{FF2B5EF4-FFF2-40B4-BE49-F238E27FC236}">
                <a16:creationId xmlns:a16="http://schemas.microsoft.com/office/drawing/2014/main" id="{AC39834C-9DF0-7FA0-F5F1-EA5C7620488D}"/>
              </a:ext>
            </a:extLst>
          </p:cNvPr>
          <p:cNvCxnSpPr>
            <a:cxnSpLocks/>
          </p:cNvCxnSpPr>
          <p:nvPr/>
        </p:nvCxnSpPr>
        <p:spPr>
          <a:xfrm>
            <a:off x="5239512" y="2221992"/>
            <a:ext cx="0" cy="437997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pic>
        <p:nvPicPr>
          <p:cNvPr id="24" name="Imagem 23">
            <a:extLst>
              <a:ext uri="{FF2B5EF4-FFF2-40B4-BE49-F238E27FC236}">
                <a16:creationId xmlns:a16="http://schemas.microsoft.com/office/drawing/2014/main" id="{30E198E3-14ED-D561-AFB8-3E1CE0DE9881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369277" y="3282697"/>
            <a:ext cx="4591049" cy="2817114"/>
          </a:xfrm>
          <a:prstGeom prst="rect">
            <a:avLst/>
          </a:prstGeom>
        </p:spPr>
      </p:pic>
      <p:sp>
        <p:nvSpPr>
          <p:cNvPr id="27" name="Subtítulo 2">
            <a:extLst>
              <a:ext uri="{FF2B5EF4-FFF2-40B4-BE49-F238E27FC236}">
                <a16:creationId xmlns:a16="http://schemas.microsoft.com/office/drawing/2014/main" id="{3CE71E1C-45A6-00CF-1DFA-D576305BB862}"/>
              </a:ext>
            </a:extLst>
          </p:cNvPr>
          <p:cNvSpPr txBox="1">
            <a:spLocks/>
          </p:cNvSpPr>
          <p:nvPr/>
        </p:nvSpPr>
        <p:spPr>
          <a:xfrm>
            <a:off x="5853911" y="1709928"/>
            <a:ext cx="5751042" cy="1642156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None/>
              <a:defRPr sz="1800" b="1" kern="1200" cap="all" spc="3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endParaRPr lang="pt-P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Processamento streaming (NRT)</a:t>
            </a:r>
          </a:p>
          <a:p>
            <a:pPr marL="800100" lvl="1" indent="-342900" algn="l">
              <a:buFont typeface="Courier New" panose="02070309020205020404" pitchFamily="49" charset="0"/>
              <a:buChar char="o"/>
            </a:pPr>
            <a:r>
              <a:rPr lang="pt-PT" sz="1300" dirty="0"/>
              <a:t>Apache Kafka</a:t>
            </a:r>
          </a:p>
          <a:p>
            <a:pPr marL="800100" lvl="1" indent="-342900" algn="l">
              <a:buFont typeface="Courier New" panose="02070309020205020404" pitchFamily="49" charset="0"/>
              <a:buChar char="o"/>
            </a:pPr>
            <a:r>
              <a:rPr lang="pt-PT" sz="1300" dirty="0"/>
              <a:t>Apache Spark Streaming</a:t>
            </a:r>
          </a:p>
          <a:p>
            <a:endParaRPr lang="pt-PT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pt-PT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pt-PT" dirty="0"/>
          </a:p>
          <a:p>
            <a:endParaRPr lang="pt-PT" dirty="0"/>
          </a:p>
        </p:txBody>
      </p:sp>
      <p:pic>
        <p:nvPicPr>
          <p:cNvPr id="28" name="Imagem 27">
            <a:extLst>
              <a:ext uri="{FF2B5EF4-FFF2-40B4-BE49-F238E27FC236}">
                <a16:creationId xmlns:a16="http://schemas.microsoft.com/office/drawing/2014/main" id="{38E95892-0B57-A7C0-59DA-CF92DFE452F0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5565179" y="3892034"/>
            <a:ext cx="5751042" cy="2476143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1132332110"/>
      </p:ext>
    </p:extLst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EB7C61C-12AF-50DF-1DB9-E77E8741BC9E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B781392C-19FC-6134-D46C-E5B4BCFEF125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552451"/>
          </a:xfrm>
        </p:spPr>
        <p:txBody>
          <a:bodyPr>
            <a:normAutofit/>
          </a:bodyPr>
          <a:lstStyle/>
          <a:p>
            <a:r>
              <a:rPr lang="pt-BR" sz="2800" dirty="0"/>
              <a:t>Ferramentas e T</a:t>
            </a:r>
            <a:r>
              <a:rPr lang="pt-PT" sz="2800" dirty="0"/>
              <a:t>ecnologias – Parte 2</a:t>
            </a:r>
          </a:p>
        </p:txBody>
      </p:sp>
      <p:sp>
        <p:nvSpPr>
          <p:cNvPr id="4" name="Subtítulo 2">
            <a:extLst>
              <a:ext uri="{FF2B5EF4-FFF2-40B4-BE49-F238E27FC236}">
                <a16:creationId xmlns:a16="http://schemas.microsoft.com/office/drawing/2014/main" id="{3B64B496-83EF-1820-869C-220A22D812D6}"/>
              </a:ext>
            </a:extLst>
          </p:cNvPr>
          <p:cNvSpPr txBox="1">
            <a:spLocks/>
          </p:cNvSpPr>
          <p:nvPr/>
        </p:nvSpPr>
        <p:spPr>
          <a:xfrm>
            <a:off x="6096000" y="2591563"/>
            <a:ext cx="4672584" cy="320573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None/>
              <a:defRPr sz="1800" b="1" kern="1200" cap="all" spc="3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endParaRPr lang="pt-PT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PT" dirty="0"/>
          </a:p>
        </p:txBody>
      </p:sp>
      <p:sp>
        <p:nvSpPr>
          <p:cNvPr id="7" name="Subtítulo 2">
            <a:extLst>
              <a:ext uri="{FF2B5EF4-FFF2-40B4-BE49-F238E27FC236}">
                <a16:creationId xmlns:a16="http://schemas.microsoft.com/office/drawing/2014/main" id="{851C8767-CBE1-ED07-1996-5656E89DEC46}"/>
              </a:ext>
            </a:extLst>
          </p:cNvPr>
          <p:cNvSpPr txBox="1">
            <a:spLocks/>
          </p:cNvSpPr>
          <p:nvPr/>
        </p:nvSpPr>
        <p:spPr>
          <a:xfrm>
            <a:off x="7762027" y="1812416"/>
            <a:ext cx="3294888" cy="2054590"/>
          </a:xfrm>
          <a:prstGeom prst="rect">
            <a:avLst/>
          </a:prstGeom>
        </p:spPr>
        <p:txBody>
          <a:bodyPr vert="horz" lIns="91440" tIns="45720" rIns="91440" bIns="45720" rtlCol="0" anchor="t">
            <a:normAutofit fontScale="92500" lnSpcReduction="10000"/>
          </a:bodyPr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None/>
              <a:defRPr sz="1800" b="1" kern="1200" cap="all" spc="3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endParaRPr lang="pt-P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Entrega de dados</a:t>
            </a:r>
          </a:p>
          <a:p>
            <a:pPr marL="800100" lvl="1" indent="-342900" algn="l">
              <a:buFont typeface="Courier New" panose="02070309020205020404" pitchFamily="49" charset="0"/>
              <a:buChar char="o"/>
            </a:pPr>
            <a:r>
              <a:rPr lang="pt-PT" sz="1400" dirty="0"/>
              <a:t>PostgreSQL</a:t>
            </a:r>
          </a:p>
          <a:p>
            <a:pPr marL="800100" lvl="1" indent="-342900" algn="l">
              <a:buFont typeface="Courier New" panose="02070309020205020404" pitchFamily="49" charset="0"/>
              <a:buChar char="o"/>
            </a:pPr>
            <a:r>
              <a:rPr lang="pt-PT" sz="1400" dirty="0"/>
              <a:t>FastAPI</a:t>
            </a:r>
          </a:p>
          <a:p>
            <a:pPr marL="800100" lvl="1" indent="-342900" algn="l">
              <a:buFont typeface="Courier New" panose="02070309020205020404" pitchFamily="49" charset="0"/>
              <a:buChar char="o"/>
            </a:pPr>
            <a:r>
              <a:rPr lang="pt-PT" sz="1400" dirty="0"/>
              <a:t>Metabase</a:t>
            </a:r>
          </a:p>
          <a:p>
            <a:pPr marL="800100" lvl="1" indent="-342900" algn="l">
              <a:buFont typeface="Courier New" panose="02070309020205020404" pitchFamily="49" charset="0"/>
              <a:buChar char="o"/>
            </a:pPr>
            <a:r>
              <a:rPr lang="pt-PT" sz="1400" dirty="0"/>
              <a:t>Trino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pt-PT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pt-PT" dirty="0"/>
          </a:p>
          <a:p>
            <a:endParaRPr lang="pt-PT" dirty="0"/>
          </a:p>
        </p:txBody>
      </p:sp>
      <p:cxnSp>
        <p:nvCxnSpPr>
          <p:cNvPr id="19" name="Conector reto 18">
            <a:extLst>
              <a:ext uri="{FF2B5EF4-FFF2-40B4-BE49-F238E27FC236}">
                <a16:creationId xmlns:a16="http://schemas.microsoft.com/office/drawing/2014/main" id="{0E93D895-4203-E605-1DCB-72087D5F8156}"/>
              </a:ext>
            </a:extLst>
          </p:cNvPr>
          <p:cNvCxnSpPr>
            <a:cxnSpLocks/>
          </p:cNvCxnSpPr>
          <p:nvPr/>
        </p:nvCxnSpPr>
        <p:spPr>
          <a:xfrm>
            <a:off x="7070131" y="2130552"/>
            <a:ext cx="0" cy="4517136"/>
          </a:xfrm>
          <a:prstGeom prst="line">
            <a:avLst/>
          </a:prstGeom>
        </p:spPr>
        <p:style>
          <a:lnRef idx="1">
            <a:schemeClr val="dk1"/>
          </a:lnRef>
          <a:fillRef idx="0">
            <a:schemeClr val="dk1"/>
          </a:fillRef>
          <a:effectRef idx="0">
            <a:schemeClr val="dk1"/>
          </a:effectRef>
          <a:fontRef idx="minor">
            <a:schemeClr val="tx1"/>
          </a:fontRef>
        </p:style>
      </p:cxnSp>
      <p:sp>
        <p:nvSpPr>
          <p:cNvPr id="24" name="Subtítulo 2">
            <a:extLst>
              <a:ext uri="{FF2B5EF4-FFF2-40B4-BE49-F238E27FC236}">
                <a16:creationId xmlns:a16="http://schemas.microsoft.com/office/drawing/2014/main" id="{39B0EE7A-8EEE-3C70-DDBA-0FF17B4F8628}"/>
              </a:ext>
            </a:extLst>
          </p:cNvPr>
          <p:cNvSpPr txBox="1">
            <a:spLocks/>
          </p:cNvSpPr>
          <p:nvPr/>
        </p:nvSpPr>
        <p:spPr>
          <a:xfrm>
            <a:off x="6096000" y="2591563"/>
            <a:ext cx="4672584" cy="3205733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None/>
              <a:defRPr sz="1800" b="1" kern="1200" cap="all" spc="3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endParaRPr lang="pt-PT" dirty="0"/>
          </a:p>
          <a:p>
            <a:pPr marL="285750" indent="-285750">
              <a:buFont typeface="Arial" panose="020B0604020202020204" pitchFamily="34" charset="0"/>
              <a:buChar char="•"/>
            </a:pPr>
            <a:endParaRPr lang="pt-PT" dirty="0"/>
          </a:p>
        </p:txBody>
      </p:sp>
      <p:sp>
        <p:nvSpPr>
          <p:cNvPr id="25" name="Subtítulo 2">
            <a:extLst>
              <a:ext uri="{FF2B5EF4-FFF2-40B4-BE49-F238E27FC236}">
                <a16:creationId xmlns:a16="http://schemas.microsoft.com/office/drawing/2014/main" id="{C6DF296D-5E16-891D-39C3-94AB178B4E9D}"/>
              </a:ext>
            </a:extLst>
          </p:cNvPr>
          <p:cNvSpPr txBox="1">
            <a:spLocks/>
          </p:cNvSpPr>
          <p:nvPr/>
        </p:nvSpPr>
        <p:spPr>
          <a:xfrm>
            <a:off x="395029" y="1711832"/>
            <a:ext cx="6526998" cy="2264902"/>
          </a:xfrm>
          <a:prstGeom prst="rect">
            <a:avLst/>
          </a:prstGeom>
        </p:spPr>
        <p:txBody>
          <a:bodyPr vert="horz" lIns="91440" tIns="45720" rIns="91440" bIns="45720" rtlCol="0" anchor="t">
            <a:normAutofit/>
          </a:bodyPr>
          <a:lstStyle>
            <a:lvl1pPr marL="0" indent="0" algn="l" defTabSz="914400" rtl="0" eaLnBrk="1" latinLnBrk="0" hangingPunct="1">
              <a:lnSpc>
                <a:spcPct val="130000"/>
              </a:lnSpc>
              <a:spcBef>
                <a:spcPts val="1000"/>
              </a:spcBef>
              <a:buSzPct val="87000"/>
              <a:buFont typeface="Arial" panose="020B0604020202020204" pitchFamily="34" charset="0"/>
              <a:buNone/>
              <a:defRPr sz="1800" b="1" kern="1200" cap="all" spc="300" baseline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20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indent="0" algn="ctr" defTabSz="914400" rtl="0" eaLnBrk="1" latinLnBrk="0" hangingPunct="1">
              <a:lnSpc>
                <a:spcPct val="120000"/>
              </a:lnSpc>
              <a:spcBef>
                <a:spcPts val="500"/>
              </a:spcBef>
              <a:buSzPct val="87000"/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indent="0" algn="ctr" defTabSz="914400" rtl="0" eaLnBrk="1" latinLnBrk="0" hangingPunct="1">
              <a:lnSpc>
                <a:spcPct val="90000"/>
              </a:lnSpc>
              <a:spcBef>
                <a:spcPts val="500"/>
              </a:spcBef>
              <a:buFont typeface="Arial" panose="020B0604020202020204" pitchFamily="34" charset="0"/>
              <a:buNone/>
              <a:defRPr sz="16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marL="285750" indent="-285750">
              <a:buFont typeface="Arial" panose="020B0604020202020204" pitchFamily="34" charset="0"/>
              <a:buChar char="•"/>
            </a:pPr>
            <a:endParaRPr lang="pt-P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Processamento batch (Lote)</a:t>
            </a:r>
          </a:p>
          <a:p>
            <a:pPr marL="800100" lvl="1" indent="-342900" algn="l">
              <a:buFont typeface="Courier New" panose="02070309020205020404" pitchFamily="49" charset="0"/>
              <a:buChar char="o"/>
            </a:pPr>
            <a:r>
              <a:rPr lang="pt-PT" sz="1300" dirty="0"/>
              <a:t>Apache Airflow</a:t>
            </a:r>
          </a:p>
          <a:p>
            <a:pPr marL="800100" lvl="1" indent="-342900" algn="l">
              <a:buFont typeface="Courier New" panose="02070309020205020404" pitchFamily="49" charset="0"/>
              <a:buChar char="o"/>
            </a:pPr>
            <a:r>
              <a:rPr lang="pt-PT" sz="1300" dirty="0"/>
              <a:t>Apache Spark</a:t>
            </a:r>
            <a:endParaRPr lang="pt-PT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pt-PT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pt-PT" dirty="0"/>
          </a:p>
          <a:p>
            <a:endParaRPr lang="pt-PT" dirty="0"/>
          </a:p>
        </p:txBody>
      </p:sp>
      <p:pic>
        <p:nvPicPr>
          <p:cNvPr id="26" name="Imagem 25">
            <a:extLst>
              <a:ext uri="{FF2B5EF4-FFF2-40B4-BE49-F238E27FC236}">
                <a16:creationId xmlns:a16="http://schemas.microsoft.com/office/drawing/2014/main" id="{FA7DA93F-8F85-599B-407A-846245212EE2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2907" y="3440457"/>
            <a:ext cx="6735111" cy="2505402"/>
          </a:xfrm>
          <a:prstGeom prst="rect">
            <a:avLst/>
          </a:prstGeom>
        </p:spPr>
      </p:pic>
      <p:pic>
        <p:nvPicPr>
          <p:cNvPr id="8" name="Imagem 7">
            <a:extLst>
              <a:ext uri="{FF2B5EF4-FFF2-40B4-BE49-F238E27FC236}">
                <a16:creationId xmlns:a16="http://schemas.microsoft.com/office/drawing/2014/main" id="{BBCCE95F-DEA1-7C1C-5DE6-3EE072B297C3}"/>
              </a:ext>
            </a:extLst>
      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7315200" y="4003530"/>
            <a:ext cx="4581524" cy="1942329"/>
          </a:xfrm>
          <a:prstGeom prst="rect">
            <a:avLst/>
          </a:prstGeom>
        </p:spPr>
      </p:pic>
    </p:spTree>
    <p:extLst>
      <p:ext uri="{BB962C8B-B14F-4D97-AF65-F5344CB8AC3E}">
        <p14:creationId xmlns:p14="http://schemas.microsoft.com/office/powerpoint/2010/main" val="369069384"/>
      </p:ext>
    </p:extLst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FB5E3759-BB3A-3F7E-3468-5FAEF11FE0C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E0DCB332-670C-E332-1D2D-AA8945DEE611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552451"/>
          </a:xfrm>
        </p:spPr>
        <p:txBody>
          <a:bodyPr>
            <a:normAutofit/>
          </a:bodyPr>
          <a:lstStyle/>
          <a:p>
            <a:r>
              <a:rPr lang="pt-PT" sz="2800" dirty="0"/>
              <a:t>Demonstração – Pipeline em Ação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FA356A1B-E9BF-9F0A-E988-EDFD96B04B38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2404871"/>
            <a:ext cx="11301984" cy="2221993"/>
          </a:xfrm>
        </p:spPr>
        <p:txBody>
          <a:bodyPr anchor="t">
            <a:normAutofit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Dashboards no metabase</a:t>
            </a:r>
            <a:endParaRPr lang="pt-PT" dirty="0"/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dirty="0"/>
              <a:t>Near Real-Time.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dirty="0"/>
              <a:t>Análise Histórica.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pt-P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BR" dirty="0"/>
              <a:t>Processamento dos micro-lotes com Spark streaming.</a:t>
            </a:r>
            <a:endParaRPr lang="pt-PT" dirty="0"/>
          </a:p>
        </p:txBody>
      </p:sp>
    </p:spTree>
    <p:extLst>
      <p:ext uri="{BB962C8B-B14F-4D97-AF65-F5344CB8AC3E}">
        <p14:creationId xmlns:p14="http://schemas.microsoft.com/office/powerpoint/2010/main" val="396005196"/>
      </p:ext>
    </p:extLst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D0C3AEF-DE80-C15A-7296-A9C460D97610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9784CB44-F52E-2B83-E599-92EC4D8C72C7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552451"/>
          </a:xfrm>
        </p:spPr>
        <p:txBody>
          <a:bodyPr>
            <a:normAutofit/>
          </a:bodyPr>
          <a:lstStyle/>
          <a:p>
            <a:r>
              <a:rPr lang="pt-PT" sz="2800" dirty="0"/>
              <a:t>Conclusão e Próximos Passos</a:t>
            </a:r>
          </a:p>
        </p:txBody>
      </p:sp>
      <p:sp>
        <p:nvSpPr>
          <p:cNvPr id="3" name="Subtítulo 2">
            <a:extLst>
              <a:ext uri="{FF2B5EF4-FFF2-40B4-BE49-F238E27FC236}">
                <a16:creationId xmlns:a16="http://schemas.microsoft.com/office/drawing/2014/main" id="{978F12B3-9065-B2EC-A2C5-64BC95007FEF}"/>
              </a:ext>
            </a:extLst>
          </p:cNvPr>
          <p:cNvSpPr>
            <a:spLocks noGrp="1"/>
          </p:cNvSpPr>
          <p:nvPr>
            <p:ph type="subTitle" idx="1"/>
          </p:nvPr>
        </p:nvSpPr>
        <p:spPr>
          <a:xfrm>
            <a:off x="640080" y="2404871"/>
            <a:ext cx="11301984" cy="4059937"/>
          </a:xfrm>
        </p:spPr>
        <p:txBody>
          <a:bodyPr anchor="t">
            <a:normAutofit fontScale="77500" lnSpcReduction="20000"/>
          </a:bodyPr>
          <a:lstStyle/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O que foi entregue?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b="1" dirty="0"/>
              <a:t>Uma plataforma de dados ponta-a-ponta.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b="1" dirty="0"/>
              <a:t>Dashboards históricos (Batch) e operacionais (NRT) funcionais.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b="1" dirty="0"/>
              <a:t>Uma "fonte da verdade" (Gold Lakehouse) confiável.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b="1" dirty="0"/>
              <a:t>Dados acessíveis de forma federada.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endParaRPr lang="pt-PT" dirty="0"/>
          </a:p>
          <a:p>
            <a:pPr marL="285750" indent="-285750">
              <a:buFont typeface="Arial" panose="020B0604020202020204" pitchFamily="34" charset="0"/>
              <a:buChar char="•"/>
            </a:pPr>
            <a:r>
              <a:rPr lang="pt-PT" dirty="0"/>
              <a:t>Próximos Passos: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b="1" dirty="0"/>
              <a:t>Enriquecer a camada Gold: </a:t>
            </a:r>
            <a:r>
              <a:rPr lang="pt-PT" dirty="0"/>
              <a:t>novos KPIs e informações.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b="1" dirty="0"/>
              <a:t>PoC para Cloud: </a:t>
            </a:r>
            <a:r>
              <a:rPr lang="pt-PT" dirty="0"/>
              <a:t>migração para AWS, </a:t>
            </a:r>
            <a:r>
              <a:rPr lang="pt-PT" dirty="0" err="1"/>
              <a:t>Azure</a:t>
            </a:r>
            <a:r>
              <a:rPr lang="pt-PT" dirty="0"/>
              <a:t> ou GCP.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b="1" dirty="0"/>
              <a:t>Alertas: </a:t>
            </a:r>
            <a:r>
              <a:rPr lang="pt-PT" dirty="0"/>
              <a:t>Criar alertas automáticos (Ex: "Linha 8000 está com velocidade abaixo de 5km/h há 10 minutos").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b="1" dirty="0"/>
              <a:t>Machine Learning: </a:t>
            </a:r>
            <a:r>
              <a:rPr lang="pt-PT" dirty="0"/>
              <a:t>Usar o histórico gerado de velocidade e posições para treinar modelos de previsão de chegada (ETA).</a:t>
            </a:r>
          </a:p>
          <a:p>
            <a:pPr marL="742950" lvl="1" indent="-285750" algn="l">
              <a:buFont typeface="Arial" panose="020B0604020202020204" pitchFamily="34" charset="0"/>
              <a:buChar char="•"/>
            </a:pPr>
            <a:r>
              <a:rPr lang="pt-PT" b="1" dirty="0"/>
              <a:t>Novos Dashboards: </a:t>
            </a:r>
            <a:r>
              <a:rPr lang="pt-PT" dirty="0"/>
              <a:t>Análise de performance por concessionária, por período do dia, etc.</a:t>
            </a:r>
          </a:p>
        </p:txBody>
      </p:sp>
    </p:spTree>
    <p:extLst>
      <p:ext uri="{BB962C8B-B14F-4D97-AF65-F5344CB8AC3E}">
        <p14:creationId xmlns:p14="http://schemas.microsoft.com/office/powerpoint/2010/main" val="3686714567"/>
      </p:ext>
    </p:extLst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A3E66FE3-A59A-6CD1-E378-2A9CFB9C1463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ítulo 1">
            <a:extLst>
              <a:ext uri="{FF2B5EF4-FFF2-40B4-BE49-F238E27FC236}">
                <a16:creationId xmlns:a16="http://schemas.microsoft.com/office/drawing/2014/main" id="{08B6C4F3-BF5E-7697-2F9C-6DB063D57884}"/>
              </a:ext>
            </a:extLst>
          </p:cNvPr>
          <p:cNvSpPr>
            <a:spLocks noGrp="1"/>
          </p:cNvSpPr>
          <p:nvPr>
            <p:ph type="ctrTitle"/>
          </p:nvPr>
        </p:nvSpPr>
        <p:spPr>
          <a:xfrm>
            <a:off x="640080" y="1371599"/>
            <a:ext cx="6675120" cy="552451"/>
          </a:xfrm>
        </p:spPr>
        <p:txBody>
          <a:bodyPr>
            <a:normAutofit/>
          </a:bodyPr>
          <a:lstStyle/>
          <a:p>
            <a:r>
              <a:rPr lang="pt-PT" sz="2800" dirty="0"/>
              <a:t>Perguntas</a:t>
            </a:r>
          </a:p>
        </p:txBody>
      </p:sp>
      <p:pic>
        <p:nvPicPr>
          <p:cNvPr id="1028" name="Picture 4" descr="Ponto de interrogação - ícones de logotipo grátis">
            <a:extLst>
              <a:ext uri="{FF2B5EF4-FFF2-40B4-BE49-F238E27FC236}">
                <a16:creationId xmlns:a16="http://schemas.microsoft.com/office/drawing/2014/main" id="{E57EC2C1-BD48-8D2F-78FA-71D737066F70}"/>
              </a:ext>
            </a:extLst>
          </p:cNvPr>
          <p:cNvPicPr>
            <a:picLocks noChangeAspect="1" noChangeArrowheads="1"/>
          </p:cNvPicPr>
          <p:nvPr/>
        </p:nvPicPr>
        <p:blipFill>
          <a:blip r:embed="rId2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/>
          <a:stretch>
            <a:fillRect/>
          </a:stretch>
        </p:blipFill>
        <p:spPr bwMode="auto">
          <a:xfrm>
            <a:off x="4367212" y="2028826"/>
            <a:ext cx="3457575" cy="3457575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</p:spTree>
    <p:extLst>
      <p:ext uri="{BB962C8B-B14F-4D97-AF65-F5344CB8AC3E}">
        <p14:creationId xmlns:p14="http://schemas.microsoft.com/office/powerpoint/2010/main" val="1546466802"/>
      </p:ext>
    </p:extLst>
  </p:cSld>
  <p:clrMapOvr>
    <a:masterClrMapping/>
  </p:clrMapOvr>
</p:sld>
</file>

<file path=ppt/theme/theme1.xml><?xml version="1.0" encoding="utf-8"?>
<a:theme xmlns:a="http://schemas.openxmlformats.org/drawingml/2006/main" name="DashVTI">
  <a:themeElements>
    <a:clrScheme name="Custom 6">
      <a:dk1>
        <a:sysClr val="windowText" lastClr="000000"/>
      </a:dk1>
      <a:lt1>
        <a:sysClr val="window" lastClr="FFFFFF"/>
      </a:lt1>
      <a:dk2>
        <a:srgbClr val="0D1C3B"/>
      </a:dk2>
      <a:lt2>
        <a:srgbClr val="F5F2F9"/>
      </a:lt2>
      <a:accent1>
        <a:srgbClr val="1973EB"/>
      </a:accent1>
      <a:accent2>
        <a:srgbClr val="25C8A2"/>
      </a:accent2>
      <a:accent3>
        <a:srgbClr val="BF8ED1"/>
      </a:accent3>
      <a:accent4>
        <a:srgbClr val="FE733C"/>
      </a:accent4>
      <a:accent5>
        <a:srgbClr val="FE5A5A"/>
      </a:accent5>
      <a:accent6>
        <a:srgbClr val="1AC16E"/>
      </a:accent6>
      <a:hlink>
        <a:srgbClr val="1AC16E"/>
      </a:hlink>
      <a:folHlink>
        <a:srgbClr val="00B0F0"/>
      </a:folHlink>
    </a:clrScheme>
    <a:fontScheme name="grandview display">
      <a:majorFont>
        <a:latin typeface="Grandview Display"/>
        <a:ea typeface=""/>
        <a:cs typeface=""/>
      </a:majorFont>
      <a:minorFont>
        <a:latin typeface="Grandview Display"/>
        <a:ea typeface=""/>
        <a:cs typeface="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DashVTI" id="{0A75137F-CDEB-4E94-A788-9D255EBE1B91}" vid="{DE9A6A09-5855-45A3-8E99-4290ED24057C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579</TotalTime>
  <Words>597</Words>
  <Application>Microsoft Office PowerPoint</Application>
  <PresentationFormat>Widescreen</PresentationFormat>
  <Paragraphs>90</Paragraphs>
  <Slides>12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12</vt:i4>
      </vt:variant>
    </vt:vector>
  </HeadingPairs>
  <TitlesOfParts>
    <vt:vector size="16" baseType="lpstr">
      <vt:lpstr>Arial</vt:lpstr>
      <vt:lpstr>Courier New</vt:lpstr>
      <vt:lpstr>Grandview Display</vt:lpstr>
      <vt:lpstr>DashVTI</vt:lpstr>
      <vt:lpstr>Monitoramento da Frota de Ônibus de SP</vt:lpstr>
      <vt:lpstr>Nossa Missão: Duas Visões, Uma Plataforma de Conteúdo</vt:lpstr>
      <vt:lpstr>Premissas Para a Proposta de Solução</vt:lpstr>
      <vt:lpstr>Objetivos do Projeto</vt:lpstr>
      <vt:lpstr>Objetivo 1 - Pipeline Streaming - NRT</vt:lpstr>
      <vt:lpstr>Objetivo 2 - Pipeline Batch</vt:lpstr>
      <vt:lpstr>Objetivo 3 - Arquitetura Unificada (Pipelines Batch e Streaming)</vt:lpstr>
      <vt:lpstr>Ferramentas e Tecnologias – Parte 1</vt:lpstr>
      <vt:lpstr>Ferramentas e Tecnologias – Parte 2</vt:lpstr>
      <vt:lpstr>Demonstração – Pipeline em Ação</vt:lpstr>
      <vt:lpstr>Conclusão e Próximos Passos</vt:lpstr>
      <vt:lpstr>Perguntas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Guilherme Palmeira</dc:creator>
  <cp:lastModifiedBy>Guilherme Palmeira</cp:lastModifiedBy>
  <cp:revision>33</cp:revision>
  <dcterms:created xsi:type="dcterms:W3CDTF">2025-10-27T16:34:08Z</dcterms:created>
  <dcterms:modified xsi:type="dcterms:W3CDTF">2025-10-29T22:33:44Z</dcterms:modified>
</cp:coreProperties>
</file>